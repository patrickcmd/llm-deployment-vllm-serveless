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87811"/>
            <a:ext cx="10566400" cy="3957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7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280120"/>
            <a:ext cx="10566400" cy="5028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2087811"/>
            <a:ext cx="10566400" cy="3957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AF7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427559"/>
            <a:ext cx="68021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PYCON AFRICA 2026 · PART 1 OF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894880"/>
            <a:ext cx="6802120" cy="1412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Deploying Custom LLMs with vLLM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12800" y="3535660"/>
            <a:ext cx="627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vLLM serves many users on one GPU, and a self-paced path to serverless deployment.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4704060"/>
            <a:ext cx="68021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Patrick Walukagga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5145980"/>
            <a:ext cx="68021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Engineer, Sunbird AI</a:t>
            </a:r>
            <a:endParaRPr lang="en-US" sz="1600" dirty="0"/>
          </a:p>
        </p:txBody>
      </p:sp>
      <p:pic>
        <p:nvPicPr>
          <p:cNvPr id="7" name="Image 0" descr="PyCon Africa 2026 logo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8077200" y="1619250"/>
            <a:ext cx="3048000" cy="22733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23200" y="4146550"/>
            <a:ext cx="3556000" cy="1092200"/>
          </a:xfrm>
          <a:prstGeom prst="roundRect">
            <a:avLst>
              <a:gd name="adj" fmla="val 13953"/>
            </a:avLst>
          </a:prstGeom>
          <a:solidFill>
            <a:srgbClr val="FAF7F1"/>
          </a:solidFill>
          <a:ln/>
        </p:spPr>
      </p:sp>
      <p:pic>
        <p:nvPicPr>
          <p:cNvPr id="9" name="Image 1" descr="Sunbird AI logo">    </p:cNvPr>
          <p:cNvPicPr>
            <a:picLocks noChangeAspect="1"/>
          </p:cNvPicPr>
          <p:nvPr/>
        </p:nvPicPr>
        <p:blipFill>
          <a:blip r:embed="rId2"/>
          <a:srcRect l="-155" r="-155" t="0" b="0"/>
          <a:stretch/>
        </p:blipFill>
        <p:spPr>
          <a:xfrm>
            <a:off x="8331200" y="4400550"/>
            <a:ext cx="2540000" cy="584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61851"/>
            <a:ext cx="230062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US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051371"/>
            <a:ext cx="2680335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Sunbird AI</a:t>
            </a:r>
            <a:endParaRPr lang="en-US" sz="3600" dirty="0"/>
          </a:p>
        </p:txBody>
      </p:sp>
      <p:pic>
        <p:nvPicPr>
          <p:cNvPr id="4" name="Image 0" descr="Sunbird AI logo">    </p:cNvPr>
          <p:cNvPicPr>
            <a:picLocks noChangeAspect="1"/>
          </p:cNvPicPr>
          <p:nvPr/>
        </p:nvPicPr>
        <p:blipFill>
          <a:blip r:embed="rId1"/>
          <a:srcRect l="0" r="0" t="-52" b="-52"/>
          <a:stretch/>
        </p:blipFill>
        <p:spPr>
          <a:xfrm>
            <a:off x="8712200" y="850057"/>
            <a:ext cx="2667000" cy="615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2800" y="1757313"/>
            <a:ext cx="7848600" cy="521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build AI tools for African languages, from Kampala. Scan a code to try the products we serve in production.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15975" y="2764284"/>
            <a:ext cx="3380284" cy="3074541"/>
          </a:xfrm>
          <a:prstGeom prst="roundRect">
            <a:avLst>
              <a:gd name="adj" fmla="val 4027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pic>
        <p:nvPicPr>
          <p:cNvPr id="7" name="Image 1" descr="QR code for sunflower.sunbird.ai">    </p:cNvPr>
          <p:cNvPicPr>
            <a:picLocks noChangeAspect="1"/>
          </p:cNvPicPr>
          <p:nvPr/>
        </p:nvPicPr>
        <p:blipFill>
          <a:blip r:embed="rId2"/>
          <a:srcRect l="-10194" r="-10194" t="0" b="0"/>
          <a:stretch/>
        </p:blipFill>
        <p:spPr>
          <a:xfrm>
            <a:off x="1680617" y="2996059"/>
            <a:ext cx="1651000" cy="137140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883306" y="4494461"/>
            <a:ext cx="1245572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18"/>
              </a:lnSpc>
              <a:buNone/>
            </a:pPr>
            <a:r>
              <a:rPr lang="en-US" sz="1681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Sunflower</a:t>
            </a:r>
            <a:endParaRPr lang="en-US" sz="1681" dirty="0"/>
          </a:p>
        </p:txBody>
      </p:sp>
      <p:sp>
        <p:nvSpPr>
          <p:cNvPr id="9" name="Text 5"/>
          <p:cNvSpPr/>
          <p:nvPr/>
        </p:nvSpPr>
        <p:spPr>
          <a:xfrm>
            <a:off x="819150" y="4874667"/>
            <a:ext cx="3373934" cy="438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48"/>
              </a:lnSpc>
              <a:buNone/>
            </a:pPr>
            <a:r>
              <a:rPr lang="en-US" sz="1177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language model for Ugandan languages</a:t>
            </a:r>
            <a:endParaRPr lang="en-US" sz="1177" dirty="0"/>
          </a:p>
        </p:txBody>
      </p:sp>
      <p:sp>
        <p:nvSpPr>
          <p:cNvPr id="10" name="Text 6"/>
          <p:cNvSpPr/>
          <p:nvPr/>
        </p:nvSpPr>
        <p:spPr>
          <a:xfrm>
            <a:off x="1510521" y="5415111"/>
            <a:ext cx="1991142" cy="217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24"/>
              </a:lnSpc>
              <a:buNone/>
            </a:pPr>
            <a:r>
              <a:rPr lang="en-US" sz="1089" dirty="0">
                <a:solidFill>
                  <a:srgbClr val="B458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sunflower.sunbird.ai</a:t>
            </a:r>
            <a:endParaRPr lang="en-US" sz="1089" dirty="0"/>
          </a:p>
        </p:txBody>
      </p:sp>
      <p:sp>
        <p:nvSpPr>
          <p:cNvPr id="11" name="Shape 7"/>
          <p:cNvSpPr/>
          <p:nvPr/>
        </p:nvSpPr>
        <p:spPr>
          <a:xfrm>
            <a:off x="4405809" y="2764284"/>
            <a:ext cx="3380333" cy="3074541"/>
          </a:xfrm>
          <a:prstGeom prst="roundRect">
            <a:avLst>
              <a:gd name="adj" fmla="val 4027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pic>
        <p:nvPicPr>
          <p:cNvPr id="12" name="Image 2" descr="QR code for speech.sunbird.ai">    </p:cNvPr>
          <p:cNvPicPr>
            <a:picLocks noChangeAspect="1"/>
          </p:cNvPicPr>
          <p:nvPr/>
        </p:nvPicPr>
        <p:blipFill>
          <a:blip r:embed="rId3"/>
          <a:srcRect l="-4613" r="-4613" t="0" b="0"/>
          <a:stretch/>
        </p:blipFill>
        <p:spPr>
          <a:xfrm>
            <a:off x="5270450" y="2996059"/>
            <a:ext cx="1651000" cy="15115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86656" y="4634607"/>
            <a:ext cx="1018639" cy="304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20"/>
              </a:lnSpc>
              <a:buNone/>
            </a:pPr>
            <a:r>
              <a:rPr lang="en-US" sz="1850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Speech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4550102" y="5040660"/>
            <a:ext cx="3091696" cy="253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19"/>
              </a:lnSpc>
              <a:buNone/>
            </a:pPr>
            <a:r>
              <a:rPr lang="en-US" sz="1299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Speech-to-text and text-to-speech</a:t>
            </a:r>
            <a:endParaRPr lang="en-US" sz="1299" dirty="0"/>
          </a:p>
        </p:txBody>
      </p:sp>
      <p:sp>
        <p:nvSpPr>
          <p:cNvPr id="15" name="Text 10"/>
          <p:cNvSpPr/>
          <p:nvPr/>
        </p:nvSpPr>
        <p:spPr>
          <a:xfrm>
            <a:off x="5167734" y="5395466"/>
            <a:ext cx="1856482" cy="2369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72"/>
              </a:lnSpc>
              <a:buNone/>
            </a:pPr>
            <a:r>
              <a:rPr lang="en-US" sz="1194" dirty="0">
                <a:solidFill>
                  <a:srgbClr val="B458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speech.sunbird.ai</a:t>
            </a:r>
            <a:endParaRPr lang="en-US" sz="1194" dirty="0"/>
          </a:p>
        </p:txBody>
      </p:sp>
      <p:sp>
        <p:nvSpPr>
          <p:cNvPr id="16" name="Shape 11"/>
          <p:cNvSpPr/>
          <p:nvPr/>
        </p:nvSpPr>
        <p:spPr>
          <a:xfrm>
            <a:off x="7995692" y="2764284"/>
            <a:ext cx="3380333" cy="3074541"/>
          </a:xfrm>
          <a:prstGeom prst="roundRect">
            <a:avLst>
              <a:gd name="adj" fmla="val 4027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pic>
        <p:nvPicPr>
          <p:cNvPr id="17" name="Image 3" descr="QR code for api.sunbird.ai">    </p:cNvPr>
          <p:cNvPicPr>
            <a:picLocks noChangeAspect="1"/>
          </p:cNvPicPr>
          <p:nvPr/>
        </p:nvPicPr>
        <p:blipFill>
          <a:blip r:embed="rId4"/>
          <a:srcRect l="-10194" r="-10194" t="0" b="0"/>
          <a:stretch/>
        </p:blipFill>
        <p:spPr>
          <a:xfrm>
            <a:off x="8860334" y="2996059"/>
            <a:ext cx="1651000" cy="13714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94262" y="4494461"/>
            <a:ext cx="383143" cy="2786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018"/>
              </a:lnSpc>
              <a:buNone/>
            </a:pPr>
            <a:r>
              <a:rPr lang="en-US" sz="1681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API</a:t>
            </a:r>
            <a:endParaRPr lang="en-US" sz="1681" dirty="0"/>
          </a:p>
        </p:txBody>
      </p:sp>
      <p:sp>
        <p:nvSpPr>
          <p:cNvPr id="19" name="Text 13"/>
          <p:cNvSpPr/>
          <p:nvPr/>
        </p:nvSpPr>
        <p:spPr>
          <a:xfrm>
            <a:off x="8183715" y="4874667"/>
            <a:ext cx="3004287" cy="4388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35"/>
              </a:lnSpc>
              <a:buNone/>
            </a:pPr>
            <a:r>
              <a:rPr lang="en-US" sz="1168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Translation, speech and language endpoints</a:t>
            </a:r>
            <a:endParaRPr lang="en-US" sz="1168" dirty="0"/>
          </a:p>
        </p:txBody>
      </p:sp>
      <p:sp>
        <p:nvSpPr>
          <p:cNvPr id="20" name="Text 14"/>
          <p:cNvSpPr/>
          <p:nvPr/>
        </p:nvSpPr>
        <p:spPr>
          <a:xfrm>
            <a:off x="8988956" y="5415111"/>
            <a:ext cx="1393805" cy="2173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24"/>
              </a:lnSpc>
              <a:buNone/>
            </a:pPr>
            <a:r>
              <a:rPr lang="en-US" sz="1089" dirty="0">
                <a:solidFill>
                  <a:srgbClr val="B458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api.sunbird.ai</a:t>
            </a:r>
            <a:endParaRPr lang="en-US" sz="1089" dirty="0"/>
          </a:p>
        </p:txBody>
      </p:sp>
      <p:sp>
        <p:nvSpPr>
          <p:cNvPr id="21" name="Text 15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PLAN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talk, two parts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613720"/>
            <a:ext cx="5175250" cy="3228280"/>
          </a:xfrm>
          <a:prstGeom prst="roundRect">
            <a:avLst>
              <a:gd name="adj" fmla="val 3934"/>
            </a:avLst>
          </a:prstGeom>
          <a:solidFill>
            <a:srgbClr val="1C2530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918520"/>
            <a:ext cx="47026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 1 · TODAY, 30 MINUTES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3284240"/>
            <a:ext cx="470262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vLLM and how it works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3771900"/>
            <a:ext cx="4623879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serving an LLM actually means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the KV cache is the real bottleneck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PagedAttention and continuous batching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live demos on a 135M-parameter model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4425" y="2616895"/>
            <a:ext cx="5181600" cy="3221930"/>
          </a:xfrm>
          <a:prstGeom prst="roundRect">
            <a:avLst>
              <a:gd name="adj" fmla="val 3843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02400" y="2924870"/>
            <a:ext cx="47026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 2 · SELF-PACED ON GITHUB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502400" y="3290590"/>
            <a:ext cx="470262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Serverless deployment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6573520" y="3778250"/>
            <a:ext cx="4623879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Packaging a custom model for vLLM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Serverless GPU endpoints that scale to zero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Cold starts, cost and monitoring</a:t>
            </a:r>
            <a:endParaRPr lang="en-US" sz="1500" dirty="0"/>
          </a:p>
          <a:p>
            <a:pPr algn="l" marL="182880" indent="-182880">
              <a:lnSpc>
                <a:spcPts val="2250"/>
              </a:lnSpc>
              <a:buSzPct val="100000"/>
              <a:buChar char="•"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same lab code, ready to run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02400" y="5073650"/>
            <a:ext cx="470262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58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github.com/PatrickCmd/</a:t>
            </a:r>
            <a:endParaRPr lang="en-US" sz="12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B4581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llm-deployment-vllm-serveless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14" name="Image 0" descr="PyCon Africa 2026 logo">    </p:cNvPr>
          <p:cNvPicPr>
            <a:picLocks noChangeAspect="1"/>
          </p:cNvPicPr>
          <p:nvPr/>
        </p:nvPicPr>
        <p:blipFill>
          <a:blip r:embed="rId1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0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FOUNDATIONS</a:t>
            </a:r>
            <a:endParaRPr lang="en-US" sz="115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71836"/>
            <a:ext cx="10883392" cy="5086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24"/>
              </a:lnSpc>
              <a:buNone/>
            </a:pPr>
            <a:r>
              <a:rPr lang="en-US" sz="3476" b="1" i="0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LLM serving?</a:t>
            </a:r>
            <a:endParaRPr lang="en-US" sz="3476" dirty="0"/>
          </a:p>
        </p:txBody>
      </p:sp>
      <p:sp>
        <p:nvSpPr>
          <p:cNvPr id="4" name="Text 2"/>
          <p:cNvSpPr/>
          <p:nvPr/>
        </p:nvSpPr>
        <p:spPr>
          <a:xfrm>
            <a:off x="812800" y="2009130"/>
            <a:ext cx="8502650" cy="5721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56"/>
              </a:lnSpc>
              <a:buNone/>
            </a:pPr>
            <a:r>
              <a:rPr lang="en-US" sz="154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Running a model so that many people can send requests and get replies at the same time. A serving engine sits between the users and the GPU.</a:t>
            </a:r>
            <a:endParaRPr lang="en-US" sz="1540" dirty="0"/>
          </a:p>
        </p:txBody>
      </p:sp>
      <p:sp>
        <p:nvSpPr>
          <p:cNvPr id="5" name="Shape 3"/>
          <p:cNvSpPr/>
          <p:nvPr/>
        </p:nvSpPr>
        <p:spPr>
          <a:xfrm>
            <a:off x="815975" y="3159472"/>
            <a:ext cx="2066925" cy="1708100"/>
          </a:xfrm>
          <a:prstGeom prst="roundRect">
            <a:avLst>
              <a:gd name="adj" fmla="val 7249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pic>
        <p:nvPicPr>
          <p:cNvPr id="6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71638" y="3391247"/>
            <a:ext cx="355600" cy="355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81773" y="3823047"/>
            <a:ext cx="735330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22350" y="4173537"/>
            <a:ext cx="165417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requests arrive at once</a:t>
            </a:r>
            <a:endParaRPr lang="en-US" sz="1300" dirty="0"/>
          </a:p>
        </p:txBody>
      </p:sp>
      <p:pic>
        <p:nvPicPr>
          <p:cNvPr id="9" name="Image 1" descr="connecto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987675" y="3949998"/>
            <a:ext cx="558800" cy="1270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648075" y="3025527"/>
            <a:ext cx="2060575" cy="1976041"/>
          </a:xfrm>
          <a:prstGeom prst="roundRect">
            <a:avLst>
              <a:gd name="adj" fmla="val 6427"/>
            </a:avLst>
          </a:prstGeom>
          <a:solidFill>
            <a:srgbClr val="1C2530"/>
          </a:solidFill>
          <a:ln/>
        </p:spPr>
      </p:sp>
      <p:pic>
        <p:nvPicPr>
          <p:cNvPr id="11" name="Image 2" descr="Setting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00563" y="3254127"/>
            <a:ext cx="355600" cy="355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76675" y="3685927"/>
            <a:ext cx="1654175" cy="573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Serving engine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3851275" y="4310707"/>
            <a:ext cx="165417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Queues, batches and schedules the work</a:t>
            </a:r>
            <a:endParaRPr lang="en-US" sz="1300" dirty="0"/>
          </a:p>
        </p:txBody>
      </p:sp>
      <p:pic>
        <p:nvPicPr>
          <p:cNvPr id="14" name="Image 3" descr="connector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10250" y="3949998"/>
            <a:ext cx="558800" cy="1270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473825" y="3043932"/>
            <a:ext cx="2066925" cy="1939230"/>
          </a:xfrm>
          <a:prstGeom prst="roundRect">
            <a:avLst>
              <a:gd name="adj" fmla="val 6385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pic>
        <p:nvPicPr>
          <p:cNvPr id="16" name="Image 4" descr="Databas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29488" y="3275707"/>
            <a:ext cx="355600" cy="35560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7241783" y="3707507"/>
            <a:ext cx="530959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GPU</a:t>
            </a:r>
            <a:endParaRPr lang="en-US" sz="1800" dirty="0"/>
          </a:p>
        </p:txBody>
      </p:sp>
      <p:sp>
        <p:nvSpPr>
          <p:cNvPr id="18" name="Text 11"/>
          <p:cNvSpPr/>
          <p:nvPr/>
        </p:nvSpPr>
        <p:spPr>
          <a:xfrm>
            <a:off x="6680200" y="4057997"/>
            <a:ext cx="1654175" cy="71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Holds the model weights and the KV cache</a:t>
            </a:r>
            <a:endParaRPr lang="en-US" sz="1300" dirty="0"/>
          </a:p>
        </p:txBody>
      </p:sp>
      <p:pic>
        <p:nvPicPr>
          <p:cNvPr id="19" name="Image 5" descr="connector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45525" y="3949998"/>
            <a:ext cx="558800" cy="1270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9309100" y="3159472"/>
            <a:ext cx="2066925" cy="1708100"/>
          </a:xfrm>
          <a:prstGeom prst="roundRect">
            <a:avLst>
              <a:gd name="adj" fmla="val 7249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pic>
        <p:nvPicPr>
          <p:cNvPr id="21" name="Image 6" descr="Chat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164763" y="3391247"/>
            <a:ext cx="355600" cy="355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9865365" y="3823047"/>
            <a:ext cx="954345" cy="299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Replies</a:t>
            </a:r>
            <a:endParaRPr lang="en-US" sz="1800" dirty="0"/>
          </a:p>
        </p:txBody>
      </p:sp>
      <p:sp>
        <p:nvSpPr>
          <p:cNvPr id="23" name="Text 14"/>
          <p:cNvSpPr/>
          <p:nvPr/>
        </p:nvSpPr>
        <p:spPr>
          <a:xfrm>
            <a:off x="9515475" y="4173537"/>
            <a:ext cx="1654175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Streamed back token by token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812800" y="5229820"/>
            <a:ext cx="3386634" cy="0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25" name="Text 16"/>
          <p:cNvSpPr/>
          <p:nvPr/>
        </p:nvSpPr>
        <p:spPr>
          <a:xfrm>
            <a:off x="812800" y="5369520"/>
            <a:ext cx="3488233" cy="49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GPUs are expensive.</a:t>
            </a:r>
            <a:r>
              <a:rPr lang="en-US" sz="1400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Every hour of idle compute costs money.</a:t>
            </a:r>
            <a:endParaRPr lang="en-US" sz="1400" dirty="0"/>
          </a:p>
        </p:txBody>
      </p:sp>
      <p:sp>
        <p:nvSpPr>
          <p:cNvPr id="26" name="Shape 17"/>
          <p:cNvSpPr/>
          <p:nvPr/>
        </p:nvSpPr>
        <p:spPr>
          <a:xfrm>
            <a:off x="4402634" y="5229820"/>
            <a:ext cx="3386683" cy="0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27" name="Text 18"/>
          <p:cNvSpPr/>
          <p:nvPr/>
        </p:nvSpPr>
        <p:spPr>
          <a:xfrm>
            <a:off x="4402634" y="5369520"/>
            <a:ext cx="3488284" cy="49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GPU memory is limited.</a:t>
            </a:r>
            <a:r>
              <a:rPr lang="en-US" sz="1400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Weights take most of it; requests share the rest.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7992517" y="5229820"/>
            <a:ext cx="3386683" cy="0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29" name="Text 20"/>
          <p:cNvSpPr/>
          <p:nvPr/>
        </p:nvSpPr>
        <p:spPr>
          <a:xfrm>
            <a:off x="7992517" y="5369520"/>
            <a:ext cx="3488284" cy="497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Wasted memory means fewer users</a:t>
            </a:r>
            <a:r>
              <a:rPr lang="en-US" sz="1400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served per GPU, at a higher cost each.</a:t>
            </a:r>
            <a:endParaRPr lang="en-US" sz="1400" dirty="0"/>
          </a:p>
        </p:txBody>
      </p:sp>
      <p:sp>
        <p:nvSpPr>
          <p:cNvPr id="30" name="Shape 21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31" name="Image 7" descr="PyCon Africa 2026 logo">    </p:cNvPr>
          <p:cNvPicPr>
            <a:picLocks noChangeAspect="1"/>
          </p:cNvPicPr>
          <p:nvPr/>
        </p:nvPicPr>
        <p:blipFill>
          <a:blip r:embed="rId8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33" name="Text 23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81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07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FOUNDATIONS</a:t>
            </a:r>
            <a:endParaRPr lang="en-US" sz="907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3218"/>
            <a:ext cx="10883392" cy="394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21"/>
              </a:lnSpc>
              <a:buNone/>
            </a:pPr>
            <a:r>
              <a:rPr lang="en-US" sz="2655" b="1" i="0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Prefill, decode and the KV cache</a:t>
            </a:r>
            <a:endParaRPr lang="en-US" sz="2655" dirty="0"/>
          </a:p>
        </p:txBody>
      </p:sp>
      <p:sp>
        <p:nvSpPr>
          <p:cNvPr id="4" name="Shape 2"/>
          <p:cNvSpPr/>
          <p:nvPr/>
        </p:nvSpPr>
        <p:spPr>
          <a:xfrm>
            <a:off x="815975" y="1849041"/>
            <a:ext cx="3380284" cy="1377156"/>
          </a:xfrm>
          <a:prstGeom prst="roundRect">
            <a:avLst>
              <a:gd name="adj" fmla="val 8991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7750" y="2080816"/>
            <a:ext cx="3004236" cy="185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07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1</a:t>
            </a:r>
            <a:endParaRPr lang="en-US" sz="907" dirty="0"/>
          </a:p>
        </p:txBody>
      </p:sp>
      <p:sp>
        <p:nvSpPr>
          <p:cNvPr id="6" name="Text 4"/>
          <p:cNvSpPr/>
          <p:nvPr/>
        </p:nvSpPr>
        <p:spPr>
          <a:xfrm>
            <a:off x="1047750" y="2316857"/>
            <a:ext cx="3004236" cy="253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Tokens</a:t>
            </a:r>
            <a:endParaRPr lang="en-US" sz="1519" dirty="0"/>
          </a:p>
        </p:txBody>
      </p:sp>
      <p:sp>
        <p:nvSpPr>
          <p:cNvPr id="7" name="Text 5"/>
          <p:cNvSpPr/>
          <p:nvPr/>
        </p:nvSpPr>
        <p:spPr>
          <a:xfrm>
            <a:off x="1047750" y="2621459"/>
            <a:ext cx="3004236" cy="398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059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model splits text into tokens, roughly word pieces.</a:t>
            </a:r>
            <a:endParaRPr lang="en-US" sz="1059" dirty="0"/>
          </a:p>
        </p:txBody>
      </p:sp>
      <p:sp>
        <p:nvSpPr>
          <p:cNvPr id="8" name="Shape 6"/>
          <p:cNvSpPr/>
          <p:nvPr/>
        </p:nvSpPr>
        <p:spPr>
          <a:xfrm>
            <a:off x="4405809" y="1849041"/>
            <a:ext cx="3380333" cy="1377156"/>
          </a:xfrm>
          <a:prstGeom prst="roundRect">
            <a:avLst>
              <a:gd name="adj" fmla="val 8991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7584" y="2080816"/>
            <a:ext cx="3004287" cy="185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07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2</a:t>
            </a:r>
            <a:endParaRPr lang="en-US" sz="907" dirty="0"/>
          </a:p>
        </p:txBody>
      </p:sp>
      <p:sp>
        <p:nvSpPr>
          <p:cNvPr id="10" name="Text 8"/>
          <p:cNvSpPr/>
          <p:nvPr/>
        </p:nvSpPr>
        <p:spPr>
          <a:xfrm>
            <a:off x="4637584" y="2316857"/>
            <a:ext cx="3004287" cy="2538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2"/>
              </a:lnSpc>
              <a:buNone/>
            </a:pPr>
            <a:r>
              <a:rPr lang="en-US" sz="1519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Prefill</a:t>
            </a:r>
            <a:endParaRPr lang="en-US" sz="1519" dirty="0"/>
          </a:p>
        </p:txBody>
      </p:sp>
      <p:sp>
        <p:nvSpPr>
          <p:cNvPr id="11" name="Text 9"/>
          <p:cNvSpPr/>
          <p:nvPr/>
        </p:nvSpPr>
        <p:spPr>
          <a:xfrm>
            <a:off x="4637584" y="2621459"/>
            <a:ext cx="3004287" cy="398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82"/>
              </a:lnSpc>
              <a:buNone/>
            </a:pPr>
            <a:r>
              <a:rPr lang="en-US" sz="1059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Reads the whole prompt once before writing anything.</a:t>
            </a:r>
            <a:endParaRPr lang="en-US" sz="1059" dirty="0"/>
          </a:p>
        </p:txBody>
      </p:sp>
      <p:sp>
        <p:nvSpPr>
          <p:cNvPr id="12" name="Shape 10"/>
          <p:cNvSpPr/>
          <p:nvPr/>
        </p:nvSpPr>
        <p:spPr>
          <a:xfrm>
            <a:off x="7995692" y="1849041"/>
            <a:ext cx="3380333" cy="1377156"/>
          </a:xfrm>
          <a:prstGeom prst="roundRect">
            <a:avLst>
              <a:gd name="adj" fmla="val 8991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7467" y="2080816"/>
            <a:ext cx="3004287" cy="1537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24"/>
              </a:lnSpc>
              <a:buNone/>
            </a:pPr>
            <a:r>
              <a:rPr lang="en-US" sz="731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STEP 3</a:t>
            </a:r>
            <a:endParaRPr lang="en-US" sz="731" dirty="0"/>
          </a:p>
        </p:txBody>
      </p:sp>
      <p:sp>
        <p:nvSpPr>
          <p:cNvPr id="14" name="Text 12"/>
          <p:cNvSpPr/>
          <p:nvPr/>
        </p:nvSpPr>
        <p:spPr>
          <a:xfrm>
            <a:off x="8227467" y="2285405"/>
            <a:ext cx="3004287" cy="208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225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Decode</a:t>
            </a:r>
            <a:endParaRPr lang="en-US" sz="1225" dirty="0"/>
          </a:p>
        </p:txBody>
      </p:sp>
      <p:sp>
        <p:nvSpPr>
          <p:cNvPr id="15" name="Text 13"/>
          <p:cNvSpPr/>
          <p:nvPr/>
        </p:nvSpPr>
        <p:spPr>
          <a:xfrm>
            <a:off x="8227467" y="2545060"/>
            <a:ext cx="3004287" cy="4747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82"/>
              </a:lnSpc>
              <a:buNone/>
            </a:pPr>
            <a:r>
              <a:rPr lang="en-US" sz="1273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Writes the reply one token at a time, each step reading everything before it.</a:t>
            </a:r>
            <a:endParaRPr lang="en-US" sz="1273" dirty="0"/>
          </a:p>
        </p:txBody>
      </p:sp>
      <p:sp>
        <p:nvSpPr>
          <p:cNvPr id="16" name="Shape 14"/>
          <p:cNvSpPr/>
          <p:nvPr/>
        </p:nvSpPr>
        <p:spPr>
          <a:xfrm>
            <a:off x="812800" y="3737372"/>
            <a:ext cx="10566400" cy="1459557"/>
          </a:xfrm>
          <a:prstGeom prst="roundRect">
            <a:avLst>
              <a:gd name="adj" fmla="val 8701"/>
            </a:avLst>
          </a:prstGeom>
          <a:solidFill>
            <a:srgbClr val="1C2530"/>
          </a:solidFill>
          <a:ln/>
        </p:spPr>
      </p:sp>
      <p:sp>
        <p:nvSpPr>
          <p:cNvPr id="17" name="Text 15"/>
          <p:cNvSpPr/>
          <p:nvPr/>
        </p:nvSpPr>
        <p:spPr>
          <a:xfrm>
            <a:off x="1117600" y="3991372"/>
            <a:ext cx="1692126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KV cache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908800" y="4058047"/>
            <a:ext cx="41656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entry per token, kept for the life of the request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117600" y="4262537"/>
            <a:ext cx="762000" cy="457200"/>
          </a:xfrm>
          <a:prstGeom prst="roundRect">
            <a:avLst>
              <a:gd name="adj" fmla="val 13889"/>
            </a:avLst>
          </a:prstGeom>
          <a:solidFill>
            <a:srgbClr val="FFAA28"/>
          </a:solidFill>
          <a:ln/>
        </p:spPr>
      </p:sp>
      <p:sp>
        <p:nvSpPr>
          <p:cNvPr id="20" name="Shape 18"/>
          <p:cNvSpPr/>
          <p:nvPr/>
        </p:nvSpPr>
        <p:spPr>
          <a:xfrm>
            <a:off x="1955800" y="4262537"/>
            <a:ext cx="762000" cy="457200"/>
          </a:xfrm>
          <a:prstGeom prst="roundRect">
            <a:avLst>
              <a:gd name="adj" fmla="val 13889"/>
            </a:avLst>
          </a:prstGeom>
          <a:solidFill>
            <a:srgbClr val="FFAA28"/>
          </a:solidFill>
          <a:ln/>
        </p:spPr>
      </p:sp>
      <p:sp>
        <p:nvSpPr>
          <p:cNvPr id="21" name="Shape 19"/>
          <p:cNvSpPr/>
          <p:nvPr/>
        </p:nvSpPr>
        <p:spPr>
          <a:xfrm>
            <a:off x="2794000" y="4262537"/>
            <a:ext cx="762000" cy="457200"/>
          </a:xfrm>
          <a:prstGeom prst="roundRect">
            <a:avLst>
              <a:gd name="adj" fmla="val 13889"/>
            </a:avLst>
          </a:prstGeom>
          <a:solidFill>
            <a:srgbClr val="FFAA28"/>
          </a:solidFill>
          <a:ln/>
        </p:spPr>
      </p:sp>
      <p:sp>
        <p:nvSpPr>
          <p:cNvPr id="22" name="Shape 20"/>
          <p:cNvSpPr/>
          <p:nvPr/>
        </p:nvSpPr>
        <p:spPr>
          <a:xfrm>
            <a:off x="3632200" y="4262537"/>
            <a:ext cx="762000" cy="457200"/>
          </a:xfrm>
          <a:prstGeom prst="roundRect">
            <a:avLst>
              <a:gd name="adj" fmla="val 13889"/>
            </a:avLst>
          </a:prstGeom>
          <a:solidFill>
            <a:srgbClr val="FFAA28"/>
          </a:solidFill>
          <a:ln/>
        </p:spPr>
      </p:sp>
      <p:sp>
        <p:nvSpPr>
          <p:cNvPr id="23" name="Shape 21"/>
          <p:cNvSpPr/>
          <p:nvPr/>
        </p:nvSpPr>
        <p:spPr>
          <a:xfrm>
            <a:off x="4470400" y="4262537"/>
            <a:ext cx="762000" cy="457200"/>
          </a:xfrm>
          <a:prstGeom prst="roundRect">
            <a:avLst>
              <a:gd name="adj" fmla="val 13889"/>
            </a:avLst>
          </a:prstGeom>
          <a:solidFill>
            <a:srgbClr val="FFAA28"/>
          </a:solidFill>
          <a:ln/>
        </p:spPr>
      </p:sp>
      <p:sp>
        <p:nvSpPr>
          <p:cNvPr id="24" name="Shape 22"/>
          <p:cNvSpPr/>
          <p:nvPr/>
        </p:nvSpPr>
        <p:spPr>
          <a:xfrm>
            <a:off x="5308600" y="4262537"/>
            <a:ext cx="762000" cy="457200"/>
          </a:xfrm>
          <a:prstGeom prst="roundRect">
            <a:avLst>
              <a:gd name="adj" fmla="val 13889"/>
            </a:avLst>
          </a:prstGeom>
          <a:solidFill>
            <a:srgbClr val="DC7828"/>
          </a:solidFill>
          <a:ln/>
        </p:spPr>
      </p:sp>
      <p:sp>
        <p:nvSpPr>
          <p:cNvPr id="25" name="Shape 23"/>
          <p:cNvSpPr/>
          <p:nvPr/>
        </p:nvSpPr>
        <p:spPr>
          <a:xfrm>
            <a:off x="6146800" y="4262537"/>
            <a:ext cx="762000" cy="457200"/>
          </a:xfrm>
          <a:prstGeom prst="roundRect">
            <a:avLst>
              <a:gd name="adj" fmla="val 13889"/>
            </a:avLst>
          </a:prstGeom>
          <a:solidFill>
            <a:srgbClr val="DC7828"/>
          </a:solidFill>
          <a:ln/>
        </p:spPr>
      </p:sp>
      <p:sp>
        <p:nvSpPr>
          <p:cNvPr id="26" name="Shape 24"/>
          <p:cNvSpPr/>
          <p:nvPr/>
        </p:nvSpPr>
        <p:spPr>
          <a:xfrm>
            <a:off x="6985000" y="4262537"/>
            <a:ext cx="762000" cy="457200"/>
          </a:xfrm>
          <a:prstGeom prst="roundRect">
            <a:avLst>
              <a:gd name="adj" fmla="val 13889"/>
            </a:avLst>
          </a:prstGeom>
          <a:solidFill>
            <a:srgbClr val="DC7828"/>
          </a:solidFill>
          <a:ln/>
        </p:spPr>
      </p:sp>
      <p:sp>
        <p:nvSpPr>
          <p:cNvPr id="27" name="Shape 25"/>
          <p:cNvSpPr/>
          <p:nvPr/>
        </p:nvSpPr>
        <p:spPr>
          <a:xfrm>
            <a:off x="7829550" y="4268887"/>
            <a:ext cx="749300" cy="444500"/>
          </a:xfrm>
          <a:prstGeom prst="roundRect">
            <a:avLst>
              <a:gd name="adj" fmla="val 12857"/>
            </a:avLst>
          </a:prstGeom>
          <a:noFill/>
          <a:ln w="12700">
            <a:solidFill>
              <a:srgbClr val="6B7684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8667750" y="4268887"/>
            <a:ext cx="749300" cy="444500"/>
          </a:xfrm>
          <a:prstGeom prst="roundRect">
            <a:avLst>
              <a:gd name="adj" fmla="val 12857"/>
            </a:avLst>
          </a:prstGeom>
          <a:noFill/>
          <a:ln w="12700">
            <a:solidFill>
              <a:srgbClr val="6B768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9505950" y="4268887"/>
            <a:ext cx="749300" cy="444500"/>
          </a:xfrm>
          <a:prstGeom prst="roundRect">
            <a:avLst>
              <a:gd name="adj" fmla="val 12857"/>
            </a:avLst>
          </a:prstGeom>
          <a:noFill/>
          <a:ln w="12700">
            <a:solidFill>
              <a:srgbClr val="6B7684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10344150" y="4268887"/>
            <a:ext cx="749300" cy="444500"/>
          </a:xfrm>
          <a:prstGeom prst="roundRect">
            <a:avLst>
              <a:gd name="adj" fmla="val 12857"/>
            </a:avLst>
          </a:prstGeom>
          <a:noFill/>
          <a:ln w="12700">
            <a:solidFill>
              <a:srgbClr val="6B7684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117600" y="4792414"/>
            <a:ext cx="2104479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3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prompt tokens (prefill)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22079" y="4792414"/>
            <a:ext cx="2431207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C7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3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generated tokens (decode)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653286" y="4792414"/>
            <a:ext cx="3554075" cy="1759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□ still to come, size unknown in advance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12800" y="5450929"/>
            <a:ext cx="11379200" cy="4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13"/>
              </a:lnSpc>
              <a:buNone/>
            </a:pPr>
            <a:r>
              <a:rPr lang="en-US" sz="1223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Without the cache every new token would recompute all the earlier work. With it, memory grows with every token of every active request.</a:t>
            </a:r>
            <a:endParaRPr lang="en-US" sz="1223" dirty="0"/>
          </a:p>
        </p:txBody>
      </p:sp>
      <p:sp>
        <p:nvSpPr>
          <p:cNvPr id="35" name="Shape 33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36" name="Image 0" descr="PyCon Africa 2026 logo">    </p:cNvPr>
          <p:cNvPicPr>
            <a:picLocks noChangeAspect="1"/>
          </p:cNvPicPr>
          <p:nvPr/>
        </p:nvPicPr>
        <p:blipFill>
          <a:blip r:embed="rId1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· TASK 1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baseline: plain HuggingFace inference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7011"/>
            <a:ext cx="48138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Load SmolLM-135M with transformers, generate 50 tokens, and time it. No batching, no scheduler: one request at a time.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5975" y="3018086"/>
            <a:ext cx="4667250" cy="491480"/>
          </a:xfrm>
          <a:prstGeom prst="roundRect">
            <a:avLst>
              <a:gd name="adj" fmla="val 14858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  <p:txBody>
          <a:bodyPr wrap="square" lIns="159587" tIns="108787" rIns="30428" bIns="8338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task_1_hf_baseline.py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4635500"/>
            <a:ext cx="48138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AA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67.1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812800" y="5575300"/>
            <a:ext cx="481380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tokens per second, serving exactly one user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794375" y="2040186"/>
            <a:ext cx="5581650" cy="3798639"/>
          </a:xfrm>
          <a:prstGeom prst="roundRect">
            <a:avLst>
              <a:gd name="adj" fmla="val 2591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51550" y="2271961"/>
            <a:ext cx="5219319" cy="24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python task_1_hf_baseline.py</a:t>
            </a:r>
            <a:endParaRPr lang="en-US" sz="1268" dirty="0"/>
          </a:p>
        </p:txBody>
      </p:sp>
      <p:sp>
        <p:nvSpPr>
          <p:cNvPr id="10" name="Text 8"/>
          <p:cNvSpPr/>
          <p:nvPr/>
        </p:nvSpPr>
        <p:spPr>
          <a:xfrm>
            <a:off x="6051550" y="2583259"/>
            <a:ext cx="5219319" cy="24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8A93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Task 1: Naive HuggingFace Inference - The Baseline</a:t>
            </a:r>
            <a:endParaRPr lang="en-US" sz="1268" dirty="0"/>
          </a:p>
        </p:txBody>
      </p:sp>
      <p:sp>
        <p:nvSpPr>
          <p:cNvPr id="11" name="Text 9"/>
          <p:cNvSpPr/>
          <p:nvPr/>
        </p:nvSpPr>
        <p:spPr>
          <a:xfrm>
            <a:off x="6051550" y="2894509"/>
            <a:ext cx="5219319" cy="24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Model: HuggingFaceTB/SmolLM-135M</a:t>
            </a:r>
            <a:endParaRPr lang="en-US" sz="1268" dirty="0"/>
          </a:p>
        </p:txBody>
      </p:sp>
      <p:sp>
        <p:nvSpPr>
          <p:cNvPr id="12" name="Text 10"/>
          <p:cNvSpPr/>
          <p:nvPr/>
        </p:nvSpPr>
        <p:spPr>
          <a:xfrm>
            <a:off x="6051550" y="3205807"/>
            <a:ext cx="5219319" cy="24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Loading model with HuggingFace transformers...</a:t>
            </a:r>
            <a:endParaRPr lang="en-US" sz="1268" dirty="0"/>
          </a:p>
        </p:txBody>
      </p:sp>
      <p:sp>
        <p:nvSpPr>
          <p:cNvPr id="13" name="Text 11"/>
          <p:cNvSpPr/>
          <p:nvPr/>
        </p:nvSpPr>
        <p:spPr>
          <a:xfrm>
            <a:off x="6051550" y="3517057"/>
            <a:ext cx="5219319" cy="24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Generating with HuggingFace transformers...</a:t>
            </a:r>
            <a:endParaRPr lang="en-US" sz="1268" dirty="0"/>
          </a:p>
        </p:txBody>
      </p:sp>
      <p:sp>
        <p:nvSpPr>
          <p:cNvPr id="14" name="Text 12"/>
          <p:cNvSpPr/>
          <p:nvPr/>
        </p:nvSpPr>
        <p:spPr>
          <a:xfrm>
            <a:off x="6051550" y="3828355"/>
            <a:ext cx="5219319" cy="24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8A93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--- RESULTS ---</a:t>
            </a:r>
            <a:endParaRPr lang="en-US" sz="1268" dirty="0"/>
          </a:p>
        </p:txBody>
      </p:sp>
      <p:sp>
        <p:nvSpPr>
          <p:cNvPr id="15" name="Text 13"/>
          <p:cNvSpPr/>
          <p:nvPr/>
        </p:nvSpPr>
        <p:spPr>
          <a:xfrm>
            <a:off x="6051550" y="4139605"/>
            <a:ext cx="5219319" cy="24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Generated tokens: 50</a:t>
            </a:r>
            <a:endParaRPr lang="en-US" sz="1268" dirty="0"/>
          </a:p>
        </p:txBody>
      </p:sp>
      <p:sp>
        <p:nvSpPr>
          <p:cNvPr id="16" name="Text 14"/>
          <p:cNvSpPr/>
          <p:nvPr/>
        </p:nvSpPr>
        <p:spPr>
          <a:xfrm>
            <a:off x="6051550" y="4450904"/>
            <a:ext cx="5219319" cy="24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Total time: 0.74 seconds</a:t>
            </a:r>
            <a:endParaRPr lang="en-US" sz="1268" dirty="0"/>
          </a:p>
        </p:txBody>
      </p:sp>
      <p:sp>
        <p:nvSpPr>
          <p:cNvPr id="17" name="Text 15"/>
          <p:cNvSpPr/>
          <p:nvPr/>
        </p:nvSpPr>
        <p:spPr>
          <a:xfrm>
            <a:off x="6051550" y="4762153"/>
            <a:ext cx="5219319" cy="247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Tokens per second: 67.1 tok/s</a:t>
            </a:r>
            <a:endParaRPr lang="en-US" sz="1268" dirty="0"/>
          </a:p>
        </p:txBody>
      </p:sp>
      <p:sp>
        <p:nvSpPr>
          <p:cNvPr id="18" name="Text 16"/>
          <p:cNvSpPr/>
          <p:nvPr/>
        </p:nvSpPr>
        <p:spPr>
          <a:xfrm>
            <a:off x="6051550" y="5073452"/>
            <a:ext cx="5219319" cy="24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8A93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KEY INSIGHT: single-request performance.</a:t>
            </a:r>
            <a:endParaRPr lang="en-US" sz="1268" dirty="0"/>
          </a:p>
        </p:txBody>
      </p:sp>
      <p:sp>
        <p:nvSpPr>
          <p:cNvPr id="19" name="Text 17"/>
          <p:cNvSpPr/>
          <p:nvPr/>
        </p:nvSpPr>
        <p:spPr>
          <a:xfrm>
            <a:off x="6051550" y="5384701"/>
            <a:ext cx="5219319" cy="2477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8A93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Under load, requests would queue up.</a:t>
            </a:r>
            <a:endParaRPr lang="en-US" sz="1268" dirty="0"/>
          </a:p>
        </p:txBody>
      </p:sp>
      <p:sp>
        <p:nvSpPr>
          <p:cNvPr id="20" name="Shape 18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21" name="Image 0" descr="PyCon Africa 2026 logo">    </p:cNvPr>
          <p:cNvPicPr>
            <a:picLocks noChangeAspect="1"/>
          </p:cNvPicPr>
          <p:nvPr/>
        </p:nvPicPr>
        <p:blipFill>
          <a:blip r:embed="rId1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7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ENGINE</a:t>
            </a:r>
            <a:endParaRPr lang="en-US" sz="105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3963"/>
            <a:ext cx="10883392" cy="4557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16"/>
              </a:lnSpc>
              <a:buNone/>
            </a:pPr>
            <a:r>
              <a:rPr lang="en-US" sz="3105" b="1" i="0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is vLLM?</a:t>
            </a:r>
            <a:endParaRPr lang="en-US" sz="3105" dirty="0"/>
          </a:p>
        </p:txBody>
      </p:sp>
      <p:sp>
        <p:nvSpPr>
          <p:cNvPr id="4" name="Text 2"/>
          <p:cNvSpPr/>
          <p:nvPr/>
        </p:nvSpPr>
        <p:spPr>
          <a:xfrm>
            <a:off x="812800" y="1882874"/>
            <a:ext cx="9156700" cy="512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32"/>
              </a:lnSpc>
              <a:buNone/>
            </a:pPr>
            <a:r>
              <a:rPr lang="en-US" sz="138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open-source, high-throughput serving engine for LLMs. It does not change the model's answers. It stops wasting GPU memory and time, so one GPU serves more users.</a:t>
            </a:r>
            <a:endParaRPr lang="en-US" sz="1380" dirty="0"/>
          </a:p>
        </p:txBody>
      </p:sp>
      <p:sp>
        <p:nvSpPr>
          <p:cNvPr id="5" name="Shape 3"/>
          <p:cNvSpPr/>
          <p:nvPr/>
        </p:nvSpPr>
        <p:spPr>
          <a:xfrm>
            <a:off x="812800" y="2598341"/>
            <a:ext cx="5181600" cy="1391047"/>
          </a:xfrm>
          <a:prstGeom prst="roundRect">
            <a:avLst>
              <a:gd name="adj" fmla="val 9130"/>
            </a:avLst>
          </a:prstGeom>
          <a:solidFill>
            <a:srgbClr val="1C2530"/>
          </a:solidFill>
          <a:ln/>
        </p:spPr>
      </p:sp>
      <p:sp>
        <p:nvSpPr>
          <p:cNvPr id="6" name="Text 4"/>
          <p:cNvSpPr/>
          <p:nvPr/>
        </p:nvSpPr>
        <p:spPr>
          <a:xfrm>
            <a:off x="1066800" y="2826941"/>
            <a:ext cx="4813808" cy="189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 1</a:t>
            </a:r>
            <a:endParaRPr lang="en-US" sz="945" dirty="0"/>
          </a:p>
        </p:txBody>
      </p:sp>
      <p:sp>
        <p:nvSpPr>
          <p:cNvPr id="7" name="Text 5"/>
          <p:cNvSpPr/>
          <p:nvPr/>
        </p:nvSpPr>
        <p:spPr>
          <a:xfrm>
            <a:off x="1066800" y="3067248"/>
            <a:ext cx="4813808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8"/>
              </a:lnSpc>
              <a:buNone/>
            </a:pPr>
            <a:r>
              <a:rPr lang="en-US" sz="1556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PagedAttention</a:t>
            </a:r>
            <a:endParaRPr lang="en-US" sz="1556" dirty="0"/>
          </a:p>
        </p:txBody>
      </p:sp>
      <p:sp>
        <p:nvSpPr>
          <p:cNvPr id="8" name="Text 6"/>
          <p:cNvSpPr/>
          <p:nvPr/>
        </p:nvSpPr>
        <p:spPr>
          <a:xfrm>
            <a:off x="1066800" y="3377902"/>
            <a:ext cx="4813808" cy="40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76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Manages the KV cache in small blocks, like an operating system pages memory.</a:t>
            </a:r>
            <a:endParaRPr lang="en-US" sz="1076" dirty="0"/>
          </a:p>
        </p:txBody>
      </p:sp>
      <p:sp>
        <p:nvSpPr>
          <p:cNvPr id="9" name="Shape 7"/>
          <p:cNvSpPr/>
          <p:nvPr/>
        </p:nvSpPr>
        <p:spPr>
          <a:xfrm>
            <a:off x="6197600" y="2598341"/>
            <a:ext cx="5181600" cy="1391047"/>
          </a:xfrm>
          <a:prstGeom prst="roundRect">
            <a:avLst>
              <a:gd name="adj" fmla="val 9130"/>
            </a:avLst>
          </a:prstGeom>
          <a:solidFill>
            <a:srgbClr val="1C2530"/>
          </a:solidFill>
          <a:ln/>
        </p:spPr>
      </p:sp>
      <p:sp>
        <p:nvSpPr>
          <p:cNvPr id="10" name="Text 8"/>
          <p:cNvSpPr/>
          <p:nvPr/>
        </p:nvSpPr>
        <p:spPr>
          <a:xfrm>
            <a:off x="6451600" y="2826941"/>
            <a:ext cx="4813808" cy="1895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23"/>
              </a:lnSpc>
              <a:buNone/>
            </a:pPr>
            <a:r>
              <a:rPr lang="en-US" sz="945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IDEA 2</a:t>
            </a:r>
            <a:endParaRPr lang="en-US" sz="945" dirty="0"/>
          </a:p>
        </p:txBody>
      </p:sp>
      <p:sp>
        <p:nvSpPr>
          <p:cNvPr id="11" name="Text 9"/>
          <p:cNvSpPr/>
          <p:nvPr/>
        </p:nvSpPr>
        <p:spPr>
          <a:xfrm>
            <a:off x="6451600" y="3067248"/>
            <a:ext cx="4813808" cy="2598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8"/>
              </a:lnSpc>
              <a:buNone/>
            </a:pPr>
            <a:r>
              <a:rPr lang="en-US" sz="1556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Continuous batching</a:t>
            </a:r>
            <a:endParaRPr lang="en-US" sz="1556" dirty="0"/>
          </a:p>
        </p:txBody>
      </p:sp>
      <p:sp>
        <p:nvSpPr>
          <p:cNvPr id="12" name="Text 10"/>
          <p:cNvSpPr/>
          <p:nvPr/>
        </p:nvSpPr>
        <p:spPr>
          <a:xfrm>
            <a:off x="6451600" y="3377902"/>
            <a:ext cx="4813808" cy="408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76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Swaps finished requests for waiting ones at every decode step, so no GPU slot idles.</a:t>
            </a:r>
            <a:endParaRPr lang="en-US" sz="1076" dirty="0"/>
          </a:p>
        </p:txBody>
      </p:sp>
      <p:sp>
        <p:nvSpPr>
          <p:cNvPr id="13" name="Text 11"/>
          <p:cNvSpPr/>
          <p:nvPr/>
        </p:nvSpPr>
        <p:spPr>
          <a:xfrm>
            <a:off x="812800" y="4446588"/>
            <a:ext cx="10883392" cy="2059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016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OTHER INFERENCE ENGINES YOU WILL MEET</a:t>
            </a:r>
            <a:endParaRPr lang="en-US" sz="1016" dirty="0"/>
          </a:p>
        </p:txBody>
      </p:sp>
      <p:sp>
        <p:nvSpPr>
          <p:cNvPr id="14" name="Shape 12"/>
          <p:cNvSpPr/>
          <p:nvPr/>
        </p:nvSpPr>
        <p:spPr>
          <a:xfrm>
            <a:off x="815975" y="4731891"/>
            <a:ext cx="2520950" cy="1106934"/>
          </a:xfrm>
          <a:prstGeom prst="roundRect">
            <a:avLst>
              <a:gd name="adj" fmla="val 8892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6950" y="4887466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SGLang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96950" y="5192266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Radix-tree prefix sharing, fast structured output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495675" y="4731891"/>
            <a:ext cx="2520950" cy="1106934"/>
          </a:xfrm>
          <a:prstGeom prst="roundRect">
            <a:avLst>
              <a:gd name="adj" fmla="val 8892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76650" y="4887466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TensorRT-LLM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676650" y="5192266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NVIDIA's compiled kernels, peak speed on NVIDIA GPUs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5375" y="4731891"/>
            <a:ext cx="2520950" cy="1106934"/>
          </a:xfrm>
          <a:prstGeom prst="roundRect">
            <a:avLst>
              <a:gd name="adj" fmla="val 8892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6350" y="4887466"/>
            <a:ext cx="2336800" cy="4463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2"/>
              </a:lnSpc>
              <a:buNone/>
            </a:pPr>
            <a:r>
              <a:rPr lang="en-US" sz="1402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 Generation Inference</a:t>
            </a:r>
            <a:endParaRPr lang="en-US" sz="1402" dirty="0"/>
          </a:p>
        </p:txBody>
      </p:sp>
      <p:sp>
        <p:nvSpPr>
          <p:cNvPr id="22" name="Text 20"/>
          <p:cNvSpPr/>
          <p:nvPr/>
        </p:nvSpPr>
        <p:spPr>
          <a:xfrm>
            <a:off x="6356350" y="5346551"/>
            <a:ext cx="2223770" cy="3620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34"/>
              </a:lnSpc>
              <a:buNone/>
            </a:pPr>
            <a:r>
              <a:rPr lang="en-US" sz="953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Hugging Face's server, tight Hub integration</a:t>
            </a:r>
            <a:endParaRPr lang="en-US" sz="953" dirty="0"/>
          </a:p>
        </p:txBody>
      </p:sp>
      <p:sp>
        <p:nvSpPr>
          <p:cNvPr id="23" name="Shape 21"/>
          <p:cNvSpPr/>
          <p:nvPr/>
        </p:nvSpPr>
        <p:spPr>
          <a:xfrm>
            <a:off x="8855075" y="4731891"/>
            <a:ext cx="2520950" cy="1106934"/>
          </a:xfrm>
          <a:prstGeom prst="roundRect">
            <a:avLst>
              <a:gd name="adj" fmla="val 8892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36050" y="4887466"/>
            <a:ext cx="222377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llama.cpp and Ollama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036050" y="5192266"/>
            <a:ext cx="222377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Quantized models on laptops and CPUs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27" name="Image 0" descr="PyCon Africa 2026 logo">    </p:cNvPr>
          <p:cNvPicPr>
            <a:picLocks noChangeAspect="1"/>
          </p:cNvPicPr>
          <p:nvPr/>
        </p:nvPicPr>
        <p:blipFill>
          <a:blip r:embed="rId1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· TASK 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Same model, same prompt, served by vLLM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7011"/>
            <a:ext cx="481380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Swap the transformers loop for vLLM's engine. Nothing else changes: same weights, same 50 tokens, same CPU.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5975" y="3018086"/>
            <a:ext cx="4667250" cy="491480"/>
          </a:xfrm>
          <a:prstGeom prst="roundRect">
            <a:avLst>
              <a:gd name="adj" fmla="val 14858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  <p:txBody>
          <a:bodyPr wrap="square" lIns="159587" tIns="108787" rIns="30428" bIns="8338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task_2_vllm_inference.py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4780310"/>
            <a:ext cx="1529755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8A93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67.1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812800" y="5593110"/>
            <a:ext cx="177474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HuggingFace tok/s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596555" y="4780310"/>
            <a:ext cx="186159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FAA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87.9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2596555" y="5593110"/>
            <a:ext cx="2168843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vLLM tok/s, 1.3x faster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794375" y="2040186"/>
            <a:ext cx="5581650" cy="2934891"/>
          </a:xfrm>
          <a:prstGeom prst="roundRect">
            <a:avLst>
              <a:gd name="adj" fmla="val 3354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51550" y="2271961"/>
            <a:ext cx="52193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python task_2_vllm_inference.py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051550" y="2591991"/>
            <a:ext cx="52193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Initializing vLLM engine...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051550" y="2912021"/>
            <a:ext cx="52193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vLLM engine ready.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51550" y="3232051"/>
            <a:ext cx="52193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3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--- COMPARISON: HuggingFace vs vLLM ---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051550" y="3552081"/>
            <a:ext cx="52193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Metric HuggingFace vLLM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051550" y="3872111"/>
            <a:ext cx="52193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Tokens/sec 67.1 87.9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051550" y="4192141"/>
            <a:ext cx="52193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Total time 0.74s 0.57s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51550" y="4512171"/>
            <a:ext cx="521931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vLLM is 1.3x faster in tokens/sec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803900" y="5130651"/>
            <a:ext cx="0" cy="548580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69000" y="5156051"/>
            <a:ext cx="5572506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modest win for one user. The real advantage shows up when many users arrive at once. First, why.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22" name="Image 0" descr="PyCon Africa 2026 logo">    </p:cNvPr>
          <p:cNvPicPr>
            <a:picLocks noChangeAspect="1"/>
          </p:cNvPicPr>
          <p:nvPr/>
        </p:nvPicPr>
        <p:blipFill>
          <a:blip r:embed="rId1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198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79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</a:t>
            </a:r>
            <a:endParaRPr lang="en-US" sz="979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39490"/>
            <a:ext cx="10883392" cy="432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18"/>
              </a:lnSpc>
              <a:buNone/>
            </a:pPr>
            <a:r>
              <a:rPr lang="en-US" sz="2925" b="1" i="0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KV cache eats GPU memory</a:t>
            </a:r>
            <a:endParaRPr lang="en-US" sz="2925" dirty="0"/>
          </a:p>
        </p:txBody>
      </p:sp>
      <p:sp>
        <p:nvSpPr>
          <p:cNvPr id="4" name="Text 2"/>
          <p:cNvSpPr/>
          <p:nvPr/>
        </p:nvSpPr>
        <p:spPr>
          <a:xfrm>
            <a:off x="812800" y="1900486"/>
            <a:ext cx="9156700" cy="4859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34"/>
              </a:lnSpc>
              <a:buNone/>
            </a:pPr>
            <a:r>
              <a:rPr lang="en-US" sz="131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naive engine reserves one contiguous block per request, sized for the longest possible answer. Most answers are short, so most of the reservation sits empty.</a:t>
            </a:r>
            <a:endParaRPr lang="en-US" sz="1310" dirty="0"/>
          </a:p>
        </p:txBody>
      </p:sp>
      <p:sp>
        <p:nvSpPr>
          <p:cNvPr id="5" name="Shape 3"/>
          <p:cNvSpPr/>
          <p:nvPr/>
        </p:nvSpPr>
        <p:spPr>
          <a:xfrm>
            <a:off x="815975" y="2618184"/>
            <a:ext cx="10560050" cy="1923306"/>
          </a:xfrm>
          <a:prstGeom prst="roundRect">
            <a:avLst>
              <a:gd name="adj" fmla="val 6438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3150" y="2869257"/>
            <a:ext cx="1447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 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22550" y="2807047"/>
            <a:ext cx="6057900" cy="355600"/>
          </a:xfrm>
          <a:prstGeom prst="roundRect">
            <a:avLst>
              <a:gd name="adj" fmla="val 17857"/>
            </a:avLst>
          </a:prstGeom>
          <a:solidFill>
            <a:srgbClr val="EBE6DC"/>
          </a:solidFill>
          <a:ln/>
        </p:spPr>
      </p:sp>
      <p:sp>
        <p:nvSpPr>
          <p:cNvPr id="8" name="Shape 6"/>
          <p:cNvSpPr/>
          <p:nvPr/>
        </p:nvSpPr>
        <p:spPr>
          <a:xfrm>
            <a:off x="2622550" y="2807047"/>
            <a:ext cx="6057900" cy="355600"/>
          </a:xfrm>
          <a:prstGeom prst="roundRect">
            <a:avLst>
              <a:gd name="adj" fmla="val 17857"/>
            </a:avLst>
          </a:prstGeom>
          <a:solidFill>
            <a:srgbClr val="DC7828"/>
          </a:solidFill>
          <a:ln/>
        </p:spPr>
      </p:sp>
      <p:sp>
        <p:nvSpPr>
          <p:cNvPr id="9" name="Text 7"/>
          <p:cNvSpPr/>
          <p:nvPr/>
        </p:nvSpPr>
        <p:spPr>
          <a:xfrm>
            <a:off x="8832850" y="2869257"/>
            <a:ext cx="23545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 of 2,000 slots used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73150" y="3265934"/>
            <a:ext cx="1447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 B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622550" y="3203724"/>
            <a:ext cx="6057900" cy="355600"/>
          </a:xfrm>
          <a:prstGeom prst="roundRect">
            <a:avLst>
              <a:gd name="adj" fmla="val 17857"/>
            </a:avLst>
          </a:prstGeom>
          <a:solidFill>
            <a:srgbClr val="EBE6DC"/>
          </a:solidFill>
          <a:ln/>
        </p:spPr>
      </p:sp>
      <p:sp>
        <p:nvSpPr>
          <p:cNvPr id="12" name="Shape 10"/>
          <p:cNvSpPr/>
          <p:nvPr/>
        </p:nvSpPr>
        <p:spPr>
          <a:xfrm>
            <a:off x="2622550" y="3203724"/>
            <a:ext cx="6057900" cy="355600"/>
          </a:xfrm>
          <a:prstGeom prst="roundRect">
            <a:avLst>
              <a:gd name="adj" fmla="val 17857"/>
            </a:avLst>
          </a:prstGeom>
          <a:solidFill>
            <a:srgbClr val="DC7828"/>
          </a:solidFill>
          <a:ln/>
        </p:spPr>
      </p:sp>
      <p:sp>
        <p:nvSpPr>
          <p:cNvPr id="13" name="Text 11"/>
          <p:cNvSpPr/>
          <p:nvPr/>
        </p:nvSpPr>
        <p:spPr>
          <a:xfrm>
            <a:off x="8832850" y="3265934"/>
            <a:ext cx="23545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600 of 2,000 slots used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73150" y="3662611"/>
            <a:ext cx="1447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 C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22550" y="3600400"/>
            <a:ext cx="6057900" cy="355600"/>
          </a:xfrm>
          <a:prstGeom prst="roundRect">
            <a:avLst>
              <a:gd name="adj" fmla="val 17857"/>
            </a:avLst>
          </a:prstGeom>
          <a:solidFill>
            <a:srgbClr val="EBE6DC"/>
          </a:solidFill>
          <a:ln/>
        </p:spPr>
      </p:sp>
      <p:sp>
        <p:nvSpPr>
          <p:cNvPr id="16" name="Shape 14"/>
          <p:cNvSpPr/>
          <p:nvPr/>
        </p:nvSpPr>
        <p:spPr>
          <a:xfrm>
            <a:off x="2622550" y="3600400"/>
            <a:ext cx="6057900" cy="355600"/>
          </a:xfrm>
          <a:prstGeom prst="roundRect">
            <a:avLst>
              <a:gd name="adj" fmla="val 17857"/>
            </a:avLst>
          </a:prstGeom>
          <a:solidFill>
            <a:srgbClr val="DC7828"/>
          </a:solidFill>
          <a:ln/>
        </p:spPr>
      </p:sp>
      <p:sp>
        <p:nvSpPr>
          <p:cNvPr id="17" name="Text 15"/>
          <p:cNvSpPr/>
          <p:nvPr/>
        </p:nvSpPr>
        <p:spPr>
          <a:xfrm>
            <a:off x="8832850" y="3662611"/>
            <a:ext cx="23545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180 of 2,000 slots used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73150" y="4059287"/>
            <a:ext cx="1447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 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28900" y="4003427"/>
            <a:ext cx="6045200" cy="342900"/>
          </a:xfrm>
          <a:prstGeom prst="roundRect">
            <a:avLst>
              <a:gd name="adj" fmla="val 16667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8832850" y="4059287"/>
            <a:ext cx="235458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room left, must wait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12800" y="5065365"/>
            <a:ext cx="3386634" cy="0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5205065"/>
            <a:ext cx="3488233" cy="233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395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Over-reservation</a:t>
            </a:r>
            <a:endParaRPr lang="en-US" sz="1395" dirty="0"/>
          </a:p>
        </p:txBody>
      </p:sp>
      <p:sp>
        <p:nvSpPr>
          <p:cNvPr id="23" name="Text 21"/>
          <p:cNvSpPr/>
          <p:nvPr/>
        </p:nvSpPr>
        <p:spPr>
          <a:xfrm>
            <a:off x="812800" y="5464076"/>
            <a:ext cx="3488233" cy="403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76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Memory reserved but never used, and unavailable to anyone else.</a:t>
            </a:r>
            <a:endParaRPr lang="en-US" sz="1076" dirty="0"/>
          </a:p>
        </p:txBody>
      </p:sp>
      <p:sp>
        <p:nvSpPr>
          <p:cNvPr id="24" name="Shape 22"/>
          <p:cNvSpPr/>
          <p:nvPr/>
        </p:nvSpPr>
        <p:spPr>
          <a:xfrm>
            <a:off x="4402634" y="5065365"/>
            <a:ext cx="3386683" cy="0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02634" y="5205065"/>
            <a:ext cx="3488284" cy="233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395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Fragmentation</a:t>
            </a:r>
            <a:endParaRPr lang="en-US" sz="1395" dirty="0"/>
          </a:p>
        </p:txBody>
      </p:sp>
      <p:sp>
        <p:nvSpPr>
          <p:cNvPr id="26" name="Text 24"/>
          <p:cNvSpPr/>
          <p:nvPr/>
        </p:nvSpPr>
        <p:spPr>
          <a:xfrm>
            <a:off x="4402634" y="5464076"/>
            <a:ext cx="3488284" cy="403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76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Free memory split into gaps too small and scattered to fit a new request.</a:t>
            </a:r>
            <a:endParaRPr lang="en-US" sz="1076" dirty="0"/>
          </a:p>
        </p:txBody>
      </p:sp>
      <p:sp>
        <p:nvSpPr>
          <p:cNvPr id="27" name="Shape 25"/>
          <p:cNvSpPr/>
          <p:nvPr/>
        </p:nvSpPr>
        <p:spPr>
          <a:xfrm>
            <a:off x="7992517" y="5065365"/>
            <a:ext cx="3386683" cy="0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92517" y="5205065"/>
            <a:ext cx="3488284" cy="233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4"/>
              </a:lnSpc>
              <a:buNone/>
            </a:pPr>
            <a:r>
              <a:rPr lang="en-US" sz="1395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real bottleneck</a:t>
            </a:r>
            <a:endParaRPr lang="en-US" sz="1395" dirty="0"/>
          </a:p>
        </p:txBody>
      </p:sp>
      <p:sp>
        <p:nvSpPr>
          <p:cNvPr id="29" name="Text 27"/>
          <p:cNvSpPr/>
          <p:nvPr/>
        </p:nvSpPr>
        <p:spPr>
          <a:xfrm>
            <a:off x="7992517" y="5464076"/>
            <a:ext cx="3488284" cy="403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07"/>
              </a:lnSpc>
              <a:buNone/>
            </a:pPr>
            <a:r>
              <a:rPr lang="en-US" sz="1076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Memory management, not math speed, limits how many users a GPU serves.</a:t>
            </a:r>
            <a:endParaRPr lang="en-US" sz="1076" dirty="0"/>
          </a:p>
        </p:txBody>
      </p:sp>
      <p:sp>
        <p:nvSpPr>
          <p:cNvPr id="30" name="Shape 28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31" name="Image 0" descr="PyCon Africa 2026 logo">    </p:cNvPr>
          <p:cNvPicPr>
            <a:picLocks noChangeAspect="1"/>
          </p:cNvPicPr>
          <p:nvPr/>
        </p:nvPicPr>
        <p:blipFill>
          <a:blip r:embed="rId1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11287720" y="6238280"/>
            <a:ext cx="1422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· TASK 3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Five requests, 512 slots reserved each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5975" y="2040186"/>
            <a:ext cx="6318250" cy="491480"/>
          </a:xfrm>
          <a:prstGeom prst="roundRect">
            <a:avLst>
              <a:gd name="adj" fmla="val 14858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  <p:txBody>
          <a:bodyPr wrap="square" lIns="159587" tIns="108787" rIns="0" bIns="8338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task_3_kv_cache_problem.py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685951"/>
            <a:ext cx="19621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Short question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44800" y="2661841"/>
            <a:ext cx="3213100" cy="279400"/>
          </a:xfrm>
          <a:prstGeom prst="roundRect">
            <a:avLst>
              <a:gd name="adj" fmla="val 18182"/>
            </a:avLst>
          </a:prstGeom>
          <a:solidFill>
            <a:srgbClr val="2A3642"/>
          </a:solidFill>
          <a:ln/>
        </p:spPr>
      </p:sp>
      <p:sp>
        <p:nvSpPr>
          <p:cNvPr id="7" name="Shape 5"/>
          <p:cNvSpPr/>
          <p:nvPr/>
        </p:nvSpPr>
        <p:spPr>
          <a:xfrm>
            <a:off x="2844800" y="2661841"/>
            <a:ext cx="3213100" cy="279400"/>
          </a:xfrm>
          <a:prstGeom prst="roundRect">
            <a:avLst>
              <a:gd name="adj" fmla="val 18182"/>
            </a:avLst>
          </a:prstGeom>
          <a:solidFill>
            <a:srgbClr val="FFAA28"/>
          </a:solidFill>
          <a:ln/>
        </p:spPr>
      </p:sp>
      <p:sp>
        <p:nvSpPr>
          <p:cNvPr id="8" name="Text 6"/>
          <p:cNvSpPr/>
          <p:nvPr/>
        </p:nvSpPr>
        <p:spPr>
          <a:xfrm>
            <a:off x="6134100" y="2685951"/>
            <a:ext cx="1003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AF7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45 / 512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12800" y="3092351"/>
            <a:ext cx="19621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Medium paragraph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44800" y="3068241"/>
            <a:ext cx="3213100" cy="279400"/>
          </a:xfrm>
          <a:prstGeom prst="roundRect">
            <a:avLst>
              <a:gd name="adj" fmla="val 18182"/>
            </a:avLst>
          </a:prstGeom>
          <a:solidFill>
            <a:srgbClr val="2A3642"/>
          </a:solidFill>
          <a:ln/>
        </p:spPr>
      </p:sp>
      <p:sp>
        <p:nvSpPr>
          <p:cNvPr id="11" name="Shape 9"/>
          <p:cNvSpPr/>
          <p:nvPr/>
        </p:nvSpPr>
        <p:spPr>
          <a:xfrm>
            <a:off x="2844800" y="3068241"/>
            <a:ext cx="3213100" cy="279400"/>
          </a:xfrm>
          <a:prstGeom prst="roundRect">
            <a:avLst>
              <a:gd name="adj" fmla="val 18182"/>
            </a:avLst>
          </a:prstGeom>
          <a:solidFill>
            <a:srgbClr val="FFAA28"/>
          </a:solidFill>
          <a:ln/>
        </p:spPr>
      </p:sp>
      <p:sp>
        <p:nvSpPr>
          <p:cNvPr id="12" name="Text 10"/>
          <p:cNvSpPr/>
          <p:nvPr/>
        </p:nvSpPr>
        <p:spPr>
          <a:xfrm>
            <a:off x="6134100" y="3092351"/>
            <a:ext cx="1003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AF7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128 / 512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3498751"/>
            <a:ext cx="19621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Quick greeting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844800" y="3474641"/>
            <a:ext cx="3213100" cy="279400"/>
          </a:xfrm>
          <a:prstGeom prst="roundRect">
            <a:avLst>
              <a:gd name="adj" fmla="val 18182"/>
            </a:avLst>
          </a:prstGeom>
          <a:solidFill>
            <a:srgbClr val="2A3642"/>
          </a:solidFill>
          <a:ln/>
        </p:spPr>
      </p:sp>
      <p:sp>
        <p:nvSpPr>
          <p:cNvPr id="15" name="Shape 13"/>
          <p:cNvSpPr/>
          <p:nvPr/>
        </p:nvSpPr>
        <p:spPr>
          <a:xfrm>
            <a:off x="2844800" y="3474641"/>
            <a:ext cx="3213100" cy="279400"/>
          </a:xfrm>
          <a:prstGeom prst="roundRect">
            <a:avLst>
              <a:gd name="adj" fmla="val 18182"/>
            </a:avLst>
          </a:prstGeom>
          <a:solidFill>
            <a:srgbClr val="FFAA28"/>
          </a:solidFill>
          <a:ln/>
        </p:spPr>
      </p:sp>
      <p:sp>
        <p:nvSpPr>
          <p:cNvPr id="16" name="Text 14"/>
          <p:cNvSpPr/>
          <p:nvPr/>
        </p:nvSpPr>
        <p:spPr>
          <a:xfrm>
            <a:off x="6134100" y="3498751"/>
            <a:ext cx="1003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AF7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23 / 512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2800" y="3905151"/>
            <a:ext cx="19621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Long document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844800" y="3881041"/>
            <a:ext cx="3213100" cy="279400"/>
          </a:xfrm>
          <a:prstGeom prst="roundRect">
            <a:avLst>
              <a:gd name="adj" fmla="val 18182"/>
            </a:avLst>
          </a:prstGeom>
          <a:solidFill>
            <a:srgbClr val="2A3642"/>
          </a:solidFill>
          <a:ln/>
        </p:spPr>
      </p:sp>
      <p:sp>
        <p:nvSpPr>
          <p:cNvPr id="19" name="Shape 17"/>
          <p:cNvSpPr/>
          <p:nvPr/>
        </p:nvSpPr>
        <p:spPr>
          <a:xfrm>
            <a:off x="2844800" y="3881041"/>
            <a:ext cx="3213100" cy="279400"/>
          </a:xfrm>
          <a:prstGeom prst="roundRect">
            <a:avLst>
              <a:gd name="adj" fmla="val 18182"/>
            </a:avLst>
          </a:prstGeom>
          <a:solidFill>
            <a:srgbClr val="FFAA28"/>
          </a:solidFill>
          <a:ln/>
        </p:spPr>
      </p:sp>
      <p:sp>
        <p:nvSpPr>
          <p:cNvPr id="20" name="Text 18"/>
          <p:cNvSpPr/>
          <p:nvPr/>
        </p:nvSpPr>
        <p:spPr>
          <a:xfrm>
            <a:off x="6134100" y="3905151"/>
            <a:ext cx="1003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AF7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256 / 512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4311551"/>
            <a:ext cx="196215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 snippet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844800" y="4287441"/>
            <a:ext cx="3213100" cy="279400"/>
          </a:xfrm>
          <a:prstGeom prst="roundRect">
            <a:avLst>
              <a:gd name="adj" fmla="val 18182"/>
            </a:avLst>
          </a:prstGeom>
          <a:solidFill>
            <a:srgbClr val="2A3642"/>
          </a:solidFill>
          <a:ln/>
        </p:spPr>
      </p:sp>
      <p:sp>
        <p:nvSpPr>
          <p:cNvPr id="23" name="Shape 21"/>
          <p:cNvSpPr/>
          <p:nvPr/>
        </p:nvSpPr>
        <p:spPr>
          <a:xfrm>
            <a:off x="2844800" y="4287441"/>
            <a:ext cx="3213100" cy="279400"/>
          </a:xfrm>
          <a:prstGeom prst="roundRect">
            <a:avLst>
              <a:gd name="adj" fmla="val 18182"/>
            </a:avLst>
          </a:prstGeom>
          <a:solidFill>
            <a:srgbClr val="FFAA28"/>
          </a:solidFill>
          <a:ln/>
        </p:spPr>
      </p:sp>
      <p:sp>
        <p:nvSpPr>
          <p:cNvPr id="24" name="Text 22"/>
          <p:cNvSpPr/>
          <p:nvPr/>
        </p:nvSpPr>
        <p:spPr>
          <a:xfrm>
            <a:off x="6134100" y="4311551"/>
            <a:ext cx="10033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AF7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67 / 512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2800" y="4693841"/>
            <a:ext cx="6514338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Amber is memory in use. Grey is reserved and idle.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445375" y="2040186"/>
            <a:ext cx="3930650" cy="1934170"/>
          </a:xfrm>
          <a:prstGeom prst="roundRect">
            <a:avLst>
              <a:gd name="adj" fmla="val 5089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02550" y="2271961"/>
            <a:ext cx="351878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AA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79.7%</a:t>
            </a:r>
            <a:endParaRPr lang="en-US" sz="7000" dirty="0"/>
          </a:p>
        </p:txBody>
      </p:sp>
      <p:sp>
        <p:nvSpPr>
          <p:cNvPr id="28" name="Text 26"/>
          <p:cNvSpPr/>
          <p:nvPr/>
        </p:nvSpPr>
        <p:spPr>
          <a:xfrm>
            <a:off x="7702550" y="3211761"/>
            <a:ext cx="351878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 the allocated memory is wasted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702550" y="3511451"/>
            <a:ext cx="3518789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2,560 slots allocated, 519 used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7445375" y="4183906"/>
            <a:ext cx="3930650" cy="1515021"/>
          </a:xfrm>
          <a:prstGeom prst="roundRect">
            <a:avLst>
              <a:gd name="adj" fmla="val 6497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02550" y="4415681"/>
            <a:ext cx="3518789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8A93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</a:t>
            </a:r>
            <a:r>
              <a:rPr lang="en-US" sz="3600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vs </a:t>
            </a:r>
            <a:r>
              <a:rPr lang="en-US" sz="3600" b="1" dirty="0">
                <a:solidFill>
                  <a:srgbClr val="FFAA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97</a:t>
            </a:r>
            <a:r>
              <a:rPr lang="en-US" sz="3600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users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7702550" y="4969371"/>
            <a:ext cx="3518789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served from 10,000 slots: contiguous reservation versus no waste at all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34" name="Image 0" descr="PyCon Africa 2026 logo">    </p:cNvPr>
          <p:cNvPicPr>
            <a:picLocks noChangeAspect="1"/>
          </p:cNvPicPr>
          <p:nvPr/>
        </p:nvPicPr>
        <p:blipFill>
          <a:blip r:embed="rId1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1962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12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CORE IDEA</a:t>
            </a:r>
            <a:endParaRPr lang="en-US" sz="105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53877"/>
            <a:ext cx="10883392" cy="466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465"/>
              </a:lnSpc>
              <a:buNone/>
            </a:pPr>
            <a:r>
              <a:rPr lang="en-US" sz="3150" b="1" i="0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PagedAttention: the KV cache in small blocks</a:t>
            </a:r>
            <a:endParaRPr lang="en-US" sz="3150" dirty="0"/>
          </a:p>
        </p:txBody>
      </p:sp>
      <p:sp>
        <p:nvSpPr>
          <p:cNvPr id="4" name="Shape 2"/>
          <p:cNvSpPr/>
          <p:nvPr/>
        </p:nvSpPr>
        <p:spPr>
          <a:xfrm>
            <a:off x="812800" y="2135882"/>
            <a:ext cx="3302000" cy="2440880"/>
          </a:xfrm>
          <a:prstGeom prst="roundRect">
            <a:avLst>
              <a:gd name="adj" fmla="val 5203"/>
            </a:avLst>
          </a:prstGeom>
          <a:solidFill>
            <a:srgbClr val="1C253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364482"/>
            <a:ext cx="28778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BLOCK TABLE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66800" y="2704802"/>
            <a:ext cx="104698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7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 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113781" y="2704802"/>
            <a:ext cx="174701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 → 7 → 1 → 12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66800" y="3098502"/>
            <a:ext cx="107823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7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 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489140" y="3098502"/>
            <a:ext cx="137166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DC78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0 → 5 → 18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66800" y="3492202"/>
            <a:ext cx="107346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AF7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 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037780" y="3492202"/>
            <a:ext cx="8230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4CCD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 → 21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6800" y="3885902"/>
            <a:ext cx="2877820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request's blocks in order. They need not be adjacent in memory.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419600" y="1751409"/>
            <a:ext cx="716838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PHYSICAL BLOCKS, 16 TOKENS EACH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19600" y="2066330"/>
            <a:ext cx="803275" cy="803275"/>
          </a:xfrm>
          <a:prstGeom prst="roundRect">
            <a:avLst>
              <a:gd name="adj" fmla="val 9486"/>
            </a:avLst>
          </a:prstGeom>
          <a:solidFill>
            <a:srgbClr val="DC7828"/>
          </a:solidFill>
          <a:ln/>
        </p:spPr>
      </p:sp>
      <p:sp>
        <p:nvSpPr>
          <p:cNvPr id="15" name="Shape 13"/>
          <p:cNvSpPr/>
          <p:nvPr/>
        </p:nvSpPr>
        <p:spPr>
          <a:xfrm>
            <a:off x="5299075" y="2066330"/>
            <a:ext cx="803275" cy="803275"/>
          </a:xfrm>
          <a:prstGeom prst="roundRect">
            <a:avLst>
              <a:gd name="adj" fmla="val 9486"/>
            </a:avLst>
          </a:prstGeom>
          <a:solidFill>
            <a:srgbClr val="FFAA28"/>
          </a:solidFill>
          <a:ln/>
        </p:spPr>
      </p:sp>
      <p:sp>
        <p:nvSpPr>
          <p:cNvPr id="16" name="Shape 14"/>
          <p:cNvSpPr/>
          <p:nvPr/>
        </p:nvSpPr>
        <p:spPr>
          <a:xfrm>
            <a:off x="6184900" y="2072680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7058025" y="2066330"/>
            <a:ext cx="803275" cy="803275"/>
          </a:xfrm>
          <a:prstGeom prst="roundRect">
            <a:avLst>
              <a:gd name="adj" fmla="val 9486"/>
            </a:avLst>
          </a:prstGeom>
          <a:solidFill>
            <a:srgbClr val="FFAA28"/>
          </a:solidFill>
          <a:ln/>
        </p:spPr>
      </p:sp>
      <p:sp>
        <p:nvSpPr>
          <p:cNvPr id="18" name="Shape 16"/>
          <p:cNvSpPr/>
          <p:nvPr/>
        </p:nvSpPr>
        <p:spPr>
          <a:xfrm>
            <a:off x="7943850" y="2072680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8816975" y="2066330"/>
            <a:ext cx="803275" cy="803275"/>
          </a:xfrm>
          <a:prstGeom prst="roundRect">
            <a:avLst>
              <a:gd name="adj" fmla="val 9486"/>
            </a:avLst>
          </a:prstGeom>
          <a:solidFill>
            <a:srgbClr val="DC7828"/>
          </a:solidFill>
          <a:ln/>
        </p:spPr>
      </p:sp>
      <p:sp>
        <p:nvSpPr>
          <p:cNvPr id="20" name="Shape 18"/>
          <p:cNvSpPr/>
          <p:nvPr/>
        </p:nvSpPr>
        <p:spPr>
          <a:xfrm>
            <a:off x="9702800" y="2072680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0575925" y="2066330"/>
            <a:ext cx="803275" cy="803275"/>
          </a:xfrm>
          <a:prstGeom prst="roundRect">
            <a:avLst>
              <a:gd name="adj" fmla="val 9486"/>
            </a:avLst>
          </a:prstGeom>
          <a:solidFill>
            <a:srgbClr val="FFAA28"/>
          </a:solidFill>
          <a:ln/>
        </p:spPr>
      </p:sp>
      <p:sp>
        <p:nvSpPr>
          <p:cNvPr id="22" name="Shape 20"/>
          <p:cNvSpPr/>
          <p:nvPr/>
        </p:nvSpPr>
        <p:spPr>
          <a:xfrm>
            <a:off x="4425950" y="2952155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5299075" y="2945805"/>
            <a:ext cx="803275" cy="803275"/>
          </a:xfrm>
          <a:prstGeom prst="roundRect">
            <a:avLst>
              <a:gd name="adj" fmla="val 9486"/>
            </a:avLst>
          </a:prstGeom>
          <a:solidFill>
            <a:srgbClr val="8A93A0"/>
          </a:solidFill>
          <a:ln/>
        </p:spPr>
      </p:sp>
      <p:sp>
        <p:nvSpPr>
          <p:cNvPr id="24" name="Shape 22"/>
          <p:cNvSpPr/>
          <p:nvPr/>
        </p:nvSpPr>
        <p:spPr>
          <a:xfrm>
            <a:off x="6184900" y="2952155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7064375" y="2952155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7937500" y="2945805"/>
            <a:ext cx="803275" cy="803275"/>
          </a:xfrm>
          <a:prstGeom prst="roundRect">
            <a:avLst>
              <a:gd name="adj" fmla="val 9486"/>
            </a:avLst>
          </a:prstGeom>
          <a:solidFill>
            <a:srgbClr val="FFAA28"/>
          </a:solidFill>
          <a:ln/>
        </p:spPr>
      </p:sp>
      <p:sp>
        <p:nvSpPr>
          <p:cNvPr id="27" name="Shape 25"/>
          <p:cNvSpPr/>
          <p:nvPr/>
        </p:nvSpPr>
        <p:spPr>
          <a:xfrm>
            <a:off x="8823325" y="2952155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9702800" y="2952155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0582275" y="2952155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4425950" y="3831630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5305425" y="3831630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6178550" y="3825280"/>
            <a:ext cx="803275" cy="803275"/>
          </a:xfrm>
          <a:prstGeom prst="roundRect">
            <a:avLst>
              <a:gd name="adj" fmla="val 9486"/>
            </a:avLst>
          </a:prstGeom>
          <a:solidFill>
            <a:srgbClr val="DC7828"/>
          </a:solidFill>
          <a:ln/>
        </p:spPr>
      </p:sp>
      <p:sp>
        <p:nvSpPr>
          <p:cNvPr id="33" name="Shape 31"/>
          <p:cNvSpPr/>
          <p:nvPr/>
        </p:nvSpPr>
        <p:spPr>
          <a:xfrm>
            <a:off x="7064375" y="3831630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943850" y="3831630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8816975" y="3825280"/>
            <a:ext cx="803275" cy="803275"/>
          </a:xfrm>
          <a:prstGeom prst="roundRect">
            <a:avLst>
              <a:gd name="adj" fmla="val 9486"/>
            </a:avLst>
          </a:prstGeom>
          <a:solidFill>
            <a:srgbClr val="8A93A0"/>
          </a:solidFill>
          <a:ln/>
        </p:spPr>
      </p:sp>
      <p:sp>
        <p:nvSpPr>
          <p:cNvPr id="36" name="Shape 34"/>
          <p:cNvSpPr/>
          <p:nvPr/>
        </p:nvSpPr>
        <p:spPr>
          <a:xfrm>
            <a:off x="9702800" y="3831630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10582275" y="3831630"/>
            <a:ext cx="790575" cy="790575"/>
          </a:xfrm>
          <a:prstGeom prst="roundRect">
            <a:avLst>
              <a:gd name="adj" fmla="val 8835"/>
            </a:avLst>
          </a:prstGeom>
          <a:noFill/>
          <a:ln w="12700">
            <a:solidFill>
              <a:srgbClr val="B9B2A4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419600" y="4730155"/>
            <a:ext cx="1073706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Request 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568355" y="4730155"/>
            <a:ext cx="107608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DC7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Request B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719094" y="4730155"/>
            <a:ext cx="106971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Request C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864525" y="4730155"/>
            <a:ext cx="3321725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□ free pool, any block fits any request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812800" y="5284490"/>
            <a:ext cx="3386634" cy="0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2800" y="5424190"/>
            <a:ext cx="3488233" cy="443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Allocate on demand.</a:t>
            </a:r>
            <a:r>
              <a:rPr lang="en-US" sz="1400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request takes one more block only when it needs one.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4402634" y="5284490"/>
            <a:ext cx="3386683" cy="0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02634" y="5424190"/>
            <a:ext cx="3488284" cy="443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Return on finish.</a:t>
            </a:r>
            <a:r>
              <a:rPr lang="en-US" sz="1400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Freed blocks go straight back to the pool for the next request.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7992517" y="5284490"/>
            <a:ext cx="3386683" cy="0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992517" y="5424190"/>
            <a:ext cx="3488284" cy="443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Borrowed from the OS.</a:t>
            </a:r>
            <a:r>
              <a:rPr lang="en-US" sz="1400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Virtual memory paging, applied to attention.</a:t>
            </a:r>
            <a:endParaRPr lang="en-US" sz="1400" dirty="0"/>
          </a:p>
        </p:txBody>
      </p:sp>
      <p:sp>
        <p:nvSpPr>
          <p:cNvPr id="48" name="Shape 46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49" name="Image 0" descr="PyCon Africa 2026 logo">    </p:cNvPr>
          <p:cNvPicPr>
            <a:picLocks noChangeAspect="1"/>
          </p:cNvPicPr>
          <p:nvPr/>
        </p:nvPicPr>
        <p:blipFill>
          <a:blip r:embed="rId1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50" name="Text 47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51" name="Text 48"/>
          <p:cNvSpPr/>
          <p:nvPr/>
        </p:nvSpPr>
        <p:spPr>
          <a:xfrm>
            <a:off x="111962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· TASK 4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same five requests, in 16-token pages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5975" y="2040186"/>
            <a:ext cx="6699250" cy="460028"/>
          </a:xfrm>
          <a:prstGeom prst="roundRect">
            <a:avLst>
              <a:gd name="adj" fmla="val 15874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  <p:txBody>
          <a:bodyPr wrap="square" lIns="159587" tIns="108787" rIns="0" bIns="83387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task_4_paged_attention.py</a:t>
            </a:r>
            <a:endParaRPr lang="en-US" sz="1121" dirty="0"/>
          </a:p>
        </p:txBody>
      </p:sp>
      <p:sp>
        <p:nvSpPr>
          <p:cNvPr id="5" name="Shape 3"/>
          <p:cNvSpPr/>
          <p:nvPr/>
        </p:nvSpPr>
        <p:spPr>
          <a:xfrm>
            <a:off x="812800" y="2681188"/>
            <a:ext cx="6705600" cy="1019522"/>
          </a:xfrm>
          <a:custGeom>
            <a:avLst/>
            <a:gdLst/>
            <a:ahLst/>
            <a:cxnLst/>
            <a:rect l="l" t="t" r="r" b="b"/>
            <a:pathLst>
              <a:path w="6705600" h="1019522">
                <a:moveTo>
                  <a:pt x="6629400" y="0"/>
                </a:moveTo>
                <a:lnTo>
                  <a:pt x="6629400" y="0"/>
                </a:lnTo>
                <a:arcTo hR="76200" wR="76200" stAng="16200000" swAng="5400000"/>
                <a:lnTo>
                  <a:pt x="6705600" y="943322"/>
                </a:lnTo>
                <a:arcTo hR="76200" wR="76200" stAng="0" swAng="5400000"/>
                <a:lnTo>
                  <a:pt x="76200" y="1019522"/>
                </a:lnTo>
                <a:arcTo hR="76200" wR="76200" stAng="5400000" swAng="5400000"/>
                <a:lnTo>
                  <a:pt x="0" y="943322"/>
                </a:lnTo>
                <a:arcTo hR="69850" wR="76200" stAng="10800000" swAng="-5400000"/>
                <a:lnTo>
                  <a:pt x="6629400" y="1013172"/>
                </a:lnTo>
                <a:arcTo hR="69850" wR="69850" stAng="5400000" swAng="-5400000"/>
                <a:lnTo>
                  <a:pt x="6699250" y="76200"/>
                </a:lnTo>
                <a:arcTo hR="76200" wR="69850" stAng="0" swAng="-5400000"/>
                <a:close/>
              </a:path>
            </a:pathLst>
          </a:custGeom>
          <a:solidFill>
            <a:srgbClr val="2A3642"/>
          </a:solidFill>
          <a:ln/>
        </p:spPr>
      </p:sp>
      <p:sp>
        <p:nvSpPr>
          <p:cNvPr id="6" name="Shape 4"/>
          <p:cNvSpPr/>
          <p:nvPr/>
        </p:nvSpPr>
        <p:spPr>
          <a:xfrm>
            <a:off x="812800" y="2681188"/>
            <a:ext cx="6705600" cy="1019522"/>
          </a:xfrm>
          <a:custGeom>
            <a:avLst/>
            <a:gdLst/>
            <a:ahLst/>
            <a:cxnLst/>
            <a:rect l="l" t="t" r="r" b="b"/>
            <a:pathLst>
              <a:path w="6705600" h="1019522">
                <a:moveTo>
                  <a:pt x="76200" y="1019522"/>
                </a:moveTo>
                <a:lnTo>
                  <a:pt x="76200" y="1019522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6629400" y="0"/>
                </a:lnTo>
                <a:arcTo hR="76200" wR="76200" stAng="16200000" swAng="5400000"/>
                <a:lnTo>
                  <a:pt x="6705600" y="76200"/>
                </a:lnTo>
                <a:arcTo hR="63500" wR="76200" stAng="0" swAng="-5400000"/>
                <a:lnTo>
                  <a:pt x="76200" y="12700"/>
                </a:lnTo>
                <a:arcTo hR="63500" wR="63500" stAng="16200000" swAng="-5400000"/>
                <a:lnTo>
                  <a:pt x="12700" y="943322"/>
                </a:lnTo>
                <a:arcTo hR="76200" wR="63500" stAng="10800000" swAng="-5400000"/>
                <a:close/>
              </a:path>
            </a:pathLst>
          </a:custGeom>
          <a:solidFill>
            <a:srgbClr val="FAF9F5">
              <a:alpha val="22000"/>
            </a:srgbClr>
          </a:solidFill>
          <a:ln/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693888"/>
          <a:ext cx="6686550" cy="1003846"/>
        </p:xfrm>
        <a:graphic>
          <a:graphicData uri="http://schemas.openxmlformats.org/drawingml/2006/table">
            <a:tbl>
              <a:tblPr/>
              <a:tblGrid>
                <a:gridCol w="1872234"/>
                <a:gridCol w="1604772"/>
                <a:gridCol w="1604772"/>
                <a:gridCol w="1604772"/>
              </a:tblGrid>
              <a:tr h="334615">
                <a:tc>
                  <a:txBody>
                    <a:bodyPr/>
                    <a:lstStyle/>
                    <a:p>
                      <a:pPr indent="0" marL="0">
                        <a:lnSpc>
                          <a:spcPts val="1691"/>
                        </a:lnSpc>
                        <a:buNone/>
                      </a:pPr>
                      <a:r>
                        <a:rPr lang="en-US" sz="1208" b="1" dirty="0">
                          <a:solidFill>
                            <a:srgbClr val="FFAA2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</a:t>
                      </a:r>
                      <a:endParaRPr lang="en-US" sz="120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673" marR="53673" marT="53673" marB="53673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91"/>
                        </a:lnSpc>
                        <a:buNone/>
                      </a:pPr>
                      <a:r>
                        <a:rPr lang="en-US" sz="1208" b="1" dirty="0">
                          <a:solidFill>
                            <a:srgbClr val="FFAA2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Allocated</a:t>
                      </a:r>
                      <a:endParaRPr lang="en-US" sz="120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673" marR="53673" marT="53673" marB="53673" anchor="t">
                    <a:lnL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91"/>
                        </a:lnSpc>
                        <a:buNone/>
                      </a:pPr>
                      <a:r>
                        <a:rPr lang="en-US" sz="1208" b="1" dirty="0">
                          <a:solidFill>
                            <a:srgbClr val="FFAA2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Used</a:t>
                      </a:r>
                      <a:endParaRPr lang="en-US" sz="120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673" marR="53673" marT="53673" marB="53673" anchor="t">
                    <a:lnL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91"/>
                        </a:lnSpc>
                        <a:buNone/>
                      </a:pPr>
                      <a:r>
                        <a:rPr lang="en-US" sz="1208" b="1" dirty="0">
                          <a:solidFill>
                            <a:srgbClr val="FFAA2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Utilization</a:t>
                      </a:r>
                      <a:endParaRPr lang="en-US" sz="120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673" marR="53673" marT="53673" marB="53673" anchor="t">
                    <a:lnL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2"/>
                    </a:solidFill>
                  </a:tcPr>
                </a:tc>
              </a:tr>
              <a:tr h="334615">
                <a:tc>
                  <a:txBody>
                    <a:bodyPr/>
                    <a:lstStyle/>
                    <a:p>
                      <a:pPr indent="0" marL="0">
                        <a:lnSpc>
                          <a:spcPts val="1691"/>
                        </a:lnSpc>
                        <a:buNone/>
                      </a:pPr>
                      <a:r>
                        <a:rPr lang="en-US" sz="1208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Contiguous</a:t>
                      </a:r>
                      <a:endParaRPr lang="en-US" sz="120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673" marR="53673" marT="53673" marB="53673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91"/>
                        </a:lnSpc>
                        <a:buNone/>
                      </a:pPr>
                      <a:r>
                        <a:rPr lang="en-US" sz="1208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2,560 slots</a:t>
                      </a:r>
                      <a:endParaRPr lang="en-US" sz="120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673" marR="53673" marT="53673" marB="53673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91"/>
                        </a:lnSpc>
                        <a:buNone/>
                      </a:pPr>
                      <a:r>
                        <a:rPr lang="en-US" sz="1208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519 slots</a:t>
                      </a:r>
                      <a:endParaRPr lang="en-US" sz="120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673" marR="53673" marT="53673" marB="53673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91"/>
                        </a:lnSpc>
                        <a:buNone/>
                      </a:pPr>
                      <a:r>
                        <a:rPr lang="en-US" sz="1208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20.3%</a:t>
                      </a:r>
                      <a:endParaRPr lang="en-US" sz="120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673" marR="53673" marT="53673" marB="53673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615">
                <a:tc>
                  <a:txBody>
                    <a:bodyPr/>
                    <a:lstStyle/>
                    <a:p>
                      <a:pPr indent="0" marL="0">
                        <a:lnSpc>
                          <a:spcPts val="1691"/>
                        </a:lnSpc>
                        <a:buNone/>
                      </a:pPr>
                      <a:r>
                        <a:rPr lang="en-US" sz="1208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Paged</a:t>
                      </a:r>
                      <a:endParaRPr lang="en-US" sz="120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673" marR="53673" marT="53673" marB="53673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91"/>
                        </a:lnSpc>
                        <a:buNone/>
                      </a:pPr>
                      <a:r>
                        <a:rPr lang="en-US" sz="1208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544 slots</a:t>
                      </a:r>
                      <a:endParaRPr lang="en-US" sz="120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673" marR="53673" marT="53673" marB="53673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91"/>
                        </a:lnSpc>
                        <a:buNone/>
                      </a:pPr>
                      <a:r>
                        <a:rPr lang="en-US" sz="1208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519 slots</a:t>
                      </a:r>
                      <a:endParaRPr lang="en-US" sz="120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673" marR="53673" marT="53673" marB="53673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691"/>
                        </a:lnSpc>
                        <a:buNone/>
                      </a:pPr>
                      <a:r>
                        <a:rPr lang="en-US" sz="1208" dirty="0">
                          <a:solidFill>
                            <a:srgbClr val="FFAA2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95.4%</a:t>
                      </a:r>
                      <a:endParaRPr lang="en-US" sz="1208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53673" marR="53673" marT="53673" marB="53673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815975" y="3881686"/>
            <a:ext cx="6699250" cy="1579662"/>
          </a:xfrm>
          <a:prstGeom prst="roundRect">
            <a:avLst>
              <a:gd name="adj" fmla="val 6231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22350" y="4062661"/>
            <a:ext cx="6475095" cy="218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089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Request 1: 45 tokens → 3 pages (48 slots) waste 6.2%</a:t>
            </a:r>
            <a:endParaRPr lang="en-US" sz="1089" dirty="0"/>
          </a:p>
        </p:txBody>
      </p:sp>
      <p:sp>
        <p:nvSpPr>
          <p:cNvPr id="10" name="Text 7"/>
          <p:cNvSpPr/>
          <p:nvPr/>
        </p:nvSpPr>
        <p:spPr>
          <a:xfrm>
            <a:off x="1022350" y="4318943"/>
            <a:ext cx="6475095" cy="218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089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Request 2: 128 tokens → 8 pages (128 slots) waste 0.0%</a:t>
            </a:r>
            <a:endParaRPr lang="en-US" sz="1089" dirty="0"/>
          </a:p>
        </p:txBody>
      </p:sp>
      <p:sp>
        <p:nvSpPr>
          <p:cNvPr id="11" name="Text 8"/>
          <p:cNvSpPr/>
          <p:nvPr/>
        </p:nvSpPr>
        <p:spPr>
          <a:xfrm>
            <a:off x="1022350" y="4575175"/>
            <a:ext cx="6475095" cy="218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089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Request 3: 23 tokens → 2 pages (32 slots) waste 28.1%</a:t>
            </a:r>
            <a:endParaRPr lang="en-US" sz="1089" dirty="0"/>
          </a:p>
        </p:txBody>
      </p:sp>
      <p:sp>
        <p:nvSpPr>
          <p:cNvPr id="12" name="Text 9"/>
          <p:cNvSpPr/>
          <p:nvPr/>
        </p:nvSpPr>
        <p:spPr>
          <a:xfrm>
            <a:off x="1022350" y="4831407"/>
            <a:ext cx="6475095" cy="218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089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Request 4: 256 tokens → 16 pages (256 slots) waste 0.0%</a:t>
            </a:r>
            <a:endParaRPr lang="en-US" sz="1089" dirty="0"/>
          </a:p>
        </p:txBody>
      </p:sp>
      <p:sp>
        <p:nvSpPr>
          <p:cNvPr id="13" name="Text 10"/>
          <p:cNvSpPr/>
          <p:nvPr/>
        </p:nvSpPr>
        <p:spPr>
          <a:xfrm>
            <a:off x="1022350" y="5087640"/>
            <a:ext cx="6475095" cy="2181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4"/>
              </a:lnSpc>
              <a:buNone/>
            </a:pPr>
            <a:r>
              <a:rPr lang="en-US" sz="1089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Request 5: 67 tokens → 5 pages (80 slots) waste 16.2%</a:t>
            </a:r>
            <a:endParaRPr lang="en-US" sz="1089" dirty="0"/>
          </a:p>
        </p:txBody>
      </p:sp>
      <p:sp>
        <p:nvSpPr>
          <p:cNvPr id="14" name="Text 11"/>
          <p:cNvSpPr/>
          <p:nvPr/>
        </p:nvSpPr>
        <p:spPr>
          <a:xfrm>
            <a:off x="812800" y="5642322"/>
            <a:ext cx="6906768" cy="2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only waste left is the tail of each request's last page.</a:t>
            </a:r>
            <a:endParaRPr lang="en-US" sz="1121" dirty="0"/>
          </a:p>
        </p:txBody>
      </p:sp>
      <p:sp>
        <p:nvSpPr>
          <p:cNvPr id="15" name="Shape 12"/>
          <p:cNvSpPr/>
          <p:nvPr/>
        </p:nvSpPr>
        <p:spPr>
          <a:xfrm>
            <a:off x="7826375" y="2040186"/>
            <a:ext cx="3549650" cy="1617117"/>
          </a:xfrm>
          <a:prstGeom prst="roundRect">
            <a:avLst>
              <a:gd name="adj" fmla="val 6086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83550" y="2271961"/>
            <a:ext cx="3126359" cy="887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803"/>
              </a:lnSpc>
              <a:buNone/>
            </a:pPr>
            <a:r>
              <a:rPr lang="en-US" sz="6803" b="1" dirty="0">
                <a:solidFill>
                  <a:srgbClr val="FFAA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4.7x</a:t>
            </a:r>
            <a:endParaRPr lang="en-US" sz="6803" dirty="0"/>
          </a:p>
        </p:txBody>
      </p:sp>
      <p:sp>
        <p:nvSpPr>
          <p:cNvPr id="17" name="Text 14"/>
          <p:cNvSpPr/>
          <p:nvPr/>
        </p:nvSpPr>
        <p:spPr>
          <a:xfrm>
            <a:off x="8083550" y="3184376"/>
            <a:ext cx="3126359" cy="2665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3"/>
              </a:lnSpc>
              <a:buNone/>
            </a:pPr>
            <a:r>
              <a:rPr lang="en-US" sz="1374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less memory for the same work</a:t>
            </a:r>
            <a:endParaRPr lang="en-US" sz="1374" dirty="0"/>
          </a:p>
        </p:txBody>
      </p:sp>
      <p:sp>
        <p:nvSpPr>
          <p:cNvPr id="18" name="Shape 15"/>
          <p:cNvSpPr/>
          <p:nvPr/>
        </p:nvSpPr>
        <p:spPr>
          <a:xfrm>
            <a:off x="7826375" y="3866852"/>
            <a:ext cx="3549650" cy="1971973"/>
          </a:xfrm>
          <a:prstGeom prst="roundRect">
            <a:avLst>
              <a:gd name="adj" fmla="val 4991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83550" y="4098627"/>
            <a:ext cx="3289300" cy="1000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35"/>
              </a:lnSpc>
              <a:buNone/>
            </a:pPr>
            <a:r>
              <a:rPr lang="en-US" sz="3578" b="1" dirty="0">
                <a:solidFill>
                  <a:srgbClr val="8A93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19</a:t>
            </a:r>
            <a:r>
              <a:rPr lang="en-US" sz="3578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→ </a:t>
            </a:r>
            <a:r>
              <a:rPr lang="en-US" sz="3578" b="1" dirty="0">
                <a:solidFill>
                  <a:srgbClr val="FFAA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92</a:t>
            </a:r>
            <a:r>
              <a:rPr lang="en-US" sz="3578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users</a:t>
            </a:r>
            <a:endParaRPr lang="en-US" sz="3578" dirty="0"/>
          </a:p>
        </p:txBody>
      </p:sp>
      <p:sp>
        <p:nvSpPr>
          <p:cNvPr id="20" name="Text 17"/>
          <p:cNvSpPr/>
          <p:nvPr/>
        </p:nvSpPr>
        <p:spPr>
          <a:xfrm>
            <a:off x="8083550" y="5124500"/>
            <a:ext cx="3126359" cy="507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1"/>
              </a:lnSpc>
              <a:buNone/>
            </a:pPr>
            <a:r>
              <a:rPr lang="en-US" sz="1365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the same 10,000 slots, with utilization up from 20% to 95%</a:t>
            </a:r>
            <a:endParaRPr lang="en-US" sz="1365" dirty="0"/>
          </a:p>
        </p:txBody>
      </p:sp>
      <p:sp>
        <p:nvSpPr>
          <p:cNvPr id="21" name="Shape 18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22" name="Image 0" descr="PyCon Africa 2026 logo">    </p:cNvPr>
          <p:cNvPicPr>
            <a:picLocks noChangeAspect="1"/>
          </p:cNvPicPr>
          <p:nvPr/>
        </p:nvPicPr>
        <p:blipFill>
          <a:blip r:embed="rId1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11962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2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0"/>
              </a:lnSpc>
              <a:buNone/>
            </a:pPr>
            <a:r>
              <a:rPr lang="en-US" sz="1121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BONUS OF BLOCKS</a:t>
            </a:r>
            <a:endParaRPr lang="en-US" sz="1121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64394"/>
            <a:ext cx="10883392" cy="491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63"/>
              </a:lnSpc>
              <a:buNone/>
            </a:pPr>
            <a:r>
              <a:rPr lang="en-US" sz="3330" b="1" i="0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Blocks can be shared, not copied</a:t>
            </a:r>
            <a:endParaRPr lang="en-US" sz="3330" dirty="0"/>
          </a:p>
        </p:txBody>
      </p:sp>
      <p:sp>
        <p:nvSpPr>
          <p:cNvPr id="4" name="Text 2"/>
          <p:cNvSpPr/>
          <p:nvPr/>
        </p:nvSpPr>
        <p:spPr>
          <a:xfrm>
            <a:off x="812800" y="1984127"/>
            <a:ext cx="9156700" cy="5523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6"/>
              </a:lnSpc>
              <a:buNone/>
            </a:pPr>
            <a:r>
              <a:rPr lang="en-US" sz="149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Because the cache is made of blocks, two requests can point at the same ones. Identical beginnings are stored once.</a:t>
            </a:r>
            <a:endParaRPr lang="en-US" sz="1490" dirty="0"/>
          </a:p>
        </p:txBody>
      </p:sp>
      <p:sp>
        <p:nvSpPr>
          <p:cNvPr id="5" name="Shape 3"/>
          <p:cNvSpPr/>
          <p:nvPr/>
        </p:nvSpPr>
        <p:spPr>
          <a:xfrm>
            <a:off x="815975" y="3022253"/>
            <a:ext cx="5175250" cy="2816572"/>
          </a:xfrm>
          <a:prstGeom prst="roundRect">
            <a:avLst>
              <a:gd name="adj" fmla="val 4396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3150" y="3279428"/>
            <a:ext cx="4800727" cy="297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8"/>
              </a:lnSpc>
              <a:buNone/>
            </a:pPr>
            <a:r>
              <a:rPr lang="en-US" sz="1806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Shared prefixes</a:t>
            </a:r>
            <a:endParaRPr lang="en-US" sz="1806" dirty="0"/>
          </a:p>
        </p:txBody>
      </p:sp>
      <p:sp>
        <p:nvSpPr>
          <p:cNvPr id="7" name="Text 5"/>
          <p:cNvSpPr/>
          <p:nvPr/>
        </p:nvSpPr>
        <p:spPr>
          <a:xfrm>
            <a:off x="1073150" y="3703489"/>
            <a:ext cx="4800727" cy="690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8"/>
              </a:lnSpc>
              <a:buNone/>
            </a:pPr>
            <a:r>
              <a:rPr lang="en-US" sz="1256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long system prompt that every chat starts with lives in memory once. Each new conversation reuses those blocks and adds only its own.</a:t>
            </a:r>
            <a:endParaRPr lang="en-US" sz="1256" dirty="0"/>
          </a:p>
        </p:txBody>
      </p:sp>
      <p:sp>
        <p:nvSpPr>
          <p:cNvPr id="8" name="Text 6"/>
          <p:cNvSpPr/>
          <p:nvPr/>
        </p:nvSpPr>
        <p:spPr>
          <a:xfrm>
            <a:off x="1073150" y="4562277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11350" y="4500066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FFAA28"/>
          </a:solidFill>
          <a:ln/>
        </p:spPr>
      </p:sp>
      <p:sp>
        <p:nvSpPr>
          <p:cNvPr id="10" name="Shape 8"/>
          <p:cNvSpPr/>
          <p:nvPr/>
        </p:nvSpPr>
        <p:spPr>
          <a:xfrm>
            <a:off x="2559050" y="4500066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FFAA28"/>
          </a:solidFill>
          <a:ln/>
        </p:spPr>
      </p:sp>
      <p:sp>
        <p:nvSpPr>
          <p:cNvPr id="11" name="Shape 9"/>
          <p:cNvSpPr/>
          <p:nvPr/>
        </p:nvSpPr>
        <p:spPr>
          <a:xfrm>
            <a:off x="3206750" y="4500066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FFAA28"/>
          </a:solidFill>
          <a:ln/>
        </p:spPr>
      </p:sp>
      <p:sp>
        <p:nvSpPr>
          <p:cNvPr id="12" name="Shape 10"/>
          <p:cNvSpPr/>
          <p:nvPr/>
        </p:nvSpPr>
        <p:spPr>
          <a:xfrm>
            <a:off x="3854450" y="4500066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DC7828"/>
          </a:solidFill>
          <a:ln/>
        </p:spPr>
      </p:sp>
      <p:sp>
        <p:nvSpPr>
          <p:cNvPr id="13" name="Shape 11"/>
          <p:cNvSpPr/>
          <p:nvPr/>
        </p:nvSpPr>
        <p:spPr>
          <a:xfrm>
            <a:off x="4502150" y="4500066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DC7828"/>
          </a:solidFill>
          <a:ln/>
        </p:spPr>
      </p:sp>
      <p:sp>
        <p:nvSpPr>
          <p:cNvPr id="14" name="Text 12"/>
          <p:cNvSpPr/>
          <p:nvPr/>
        </p:nvSpPr>
        <p:spPr>
          <a:xfrm>
            <a:off x="1073150" y="4951313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User 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911350" y="4889103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FFAA28"/>
          </a:solidFill>
          <a:ln/>
        </p:spPr>
      </p:sp>
      <p:sp>
        <p:nvSpPr>
          <p:cNvPr id="16" name="Shape 14"/>
          <p:cNvSpPr/>
          <p:nvPr/>
        </p:nvSpPr>
        <p:spPr>
          <a:xfrm>
            <a:off x="2559050" y="4889103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FFAA28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6750" y="4889103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FFAA28"/>
          </a:solidFill>
          <a:ln/>
        </p:spPr>
      </p:sp>
      <p:sp>
        <p:nvSpPr>
          <p:cNvPr id="18" name="Shape 16"/>
          <p:cNvSpPr/>
          <p:nvPr/>
        </p:nvSpPr>
        <p:spPr>
          <a:xfrm>
            <a:off x="3854450" y="4889103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8A93A0"/>
          </a:solidFill>
          <a:ln/>
        </p:spPr>
      </p:sp>
      <p:sp>
        <p:nvSpPr>
          <p:cNvPr id="19" name="Text 17"/>
          <p:cNvSpPr/>
          <p:nvPr/>
        </p:nvSpPr>
        <p:spPr>
          <a:xfrm>
            <a:off x="1073150" y="5375672"/>
            <a:ext cx="4800727" cy="2313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1"/>
              </a:lnSpc>
              <a:buNone/>
            </a:pPr>
            <a:r>
              <a:rPr lang="en-US" sz="1158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158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system prompt, stored once   </a:t>
            </a:r>
            <a:r>
              <a:rPr lang="en-US" sz="1158" dirty="0">
                <a:solidFill>
                  <a:srgbClr val="DC7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158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158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158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each user's own turns</a:t>
            </a:r>
            <a:endParaRPr lang="en-US" sz="1158" dirty="0"/>
          </a:p>
        </p:txBody>
      </p:sp>
      <p:sp>
        <p:nvSpPr>
          <p:cNvPr id="20" name="Shape 18"/>
          <p:cNvSpPr/>
          <p:nvPr/>
        </p:nvSpPr>
        <p:spPr>
          <a:xfrm>
            <a:off x="6200775" y="3022253"/>
            <a:ext cx="5175250" cy="2816572"/>
          </a:xfrm>
          <a:prstGeom prst="roundRect">
            <a:avLst>
              <a:gd name="adj" fmla="val 4396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7950" y="3279428"/>
            <a:ext cx="480072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Beam search and sampling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457950" y="3736628"/>
            <a:ext cx="480072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Several candidate answers share their common beginning and only take new blocks where they diverge.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57950" y="4449018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Beam 1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296150" y="4386808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FFAA28"/>
          </a:solidFill>
          <a:ln/>
        </p:spPr>
      </p:sp>
      <p:sp>
        <p:nvSpPr>
          <p:cNvPr id="25" name="Shape 23"/>
          <p:cNvSpPr/>
          <p:nvPr/>
        </p:nvSpPr>
        <p:spPr>
          <a:xfrm>
            <a:off x="7943850" y="4386808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FFAA28"/>
          </a:solidFill>
          <a:ln/>
        </p:spPr>
      </p:sp>
      <p:sp>
        <p:nvSpPr>
          <p:cNvPr id="26" name="Shape 24"/>
          <p:cNvSpPr/>
          <p:nvPr/>
        </p:nvSpPr>
        <p:spPr>
          <a:xfrm>
            <a:off x="8591550" y="4386808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DC7828"/>
          </a:solidFill>
          <a:ln/>
        </p:spPr>
      </p:sp>
      <p:sp>
        <p:nvSpPr>
          <p:cNvPr id="27" name="Shape 25"/>
          <p:cNvSpPr/>
          <p:nvPr/>
        </p:nvSpPr>
        <p:spPr>
          <a:xfrm>
            <a:off x="9239250" y="4386808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DC7828"/>
          </a:solidFill>
          <a:ln/>
        </p:spPr>
      </p:sp>
      <p:sp>
        <p:nvSpPr>
          <p:cNvPr id="28" name="Text 26"/>
          <p:cNvSpPr/>
          <p:nvPr/>
        </p:nvSpPr>
        <p:spPr>
          <a:xfrm>
            <a:off x="6457950" y="4880818"/>
            <a:ext cx="812800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Beam 2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296150" y="4818608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FFAA28"/>
          </a:solidFill>
          <a:ln/>
        </p:spPr>
      </p:sp>
      <p:sp>
        <p:nvSpPr>
          <p:cNvPr id="30" name="Shape 28"/>
          <p:cNvSpPr/>
          <p:nvPr/>
        </p:nvSpPr>
        <p:spPr>
          <a:xfrm>
            <a:off x="7943850" y="4818608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FFAA28"/>
          </a:solidFill>
          <a:ln/>
        </p:spPr>
      </p:sp>
      <p:sp>
        <p:nvSpPr>
          <p:cNvPr id="31" name="Shape 29"/>
          <p:cNvSpPr/>
          <p:nvPr/>
        </p:nvSpPr>
        <p:spPr>
          <a:xfrm>
            <a:off x="8591550" y="4818608"/>
            <a:ext cx="571500" cy="355600"/>
          </a:xfrm>
          <a:prstGeom prst="roundRect">
            <a:avLst>
              <a:gd name="adj" fmla="val 17857"/>
            </a:avLst>
          </a:prstGeom>
          <a:solidFill>
            <a:srgbClr val="8A93A0"/>
          </a:solidFill>
          <a:ln/>
        </p:spPr>
      </p:sp>
      <p:sp>
        <p:nvSpPr>
          <p:cNvPr id="32" name="Text 30"/>
          <p:cNvSpPr/>
          <p:nvPr/>
        </p:nvSpPr>
        <p:spPr>
          <a:xfrm>
            <a:off x="6457950" y="5326608"/>
            <a:ext cx="4800727" cy="2565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shared beginning   </a:t>
            </a:r>
            <a:r>
              <a:rPr lang="en-US" sz="1300" dirty="0">
                <a:solidFill>
                  <a:srgbClr val="DC78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3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■</a:t>
            </a:r>
            <a:r>
              <a:rPr lang="en-US" sz="13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where the beams diverge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34" name="Image 0" descr="PyCon Africa 2026 logo">    </p:cNvPr>
          <p:cNvPicPr>
            <a:picLocks noChangeAspect="1"/>
          </p:cNvPicPr>
          <p:nvPr/>
        </p:nvPicPr>
        <p:blipFill>
          <a:blip r:embed="rId1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1962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· TASK 5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vLLM as an OpenAI-compatible server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37011"/>
            <a:ext cx="6502400" cy="3798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29"/>
              </a:lnSpc>
              <a:buNone/>
            </a:pPr>
            <a:r>
              <a:rPr lang="en-US" sz="1092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Start the server once. Any app that already speaks the OpenAI API points at it by changing one URL.</a:t>
            </a:r>
            <a:endParaRPr lang="en-US" sz="1092" dirty="0"/>
          </a:p>
        </p:txBody>
      </p:sp>
      <p:sp>
        <p:nvSpPr>
          <p:cNvPr id="5" name="Text 3"/>
          <p:cNvSpPr/>
          <p:nvPr/>
        </p:nvSpPr>
        <p:spPr>
          <a:xfrm>
            <a:off x="815975" y="2546995"/>
            <a:ext cx="6191250" cy="413891"/>
          </a:xfrm>
          <a:prstGeom prst="roundRect">
            <a:avLst>
              <a:gd name="adj" fmla="val 17644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  <p:txBody>
          <a:bodyPr wrap="square" lIns="159587" tIns="108787" rIns="0" bIns="83387" rtlCol="0" anchor="t">
            <a:normAutofit/>
          </a:bodyPr>
          <a:lstStyle/>
          <a:p>
            <a:pPr algn="l" indent="0" marL="0">
              <a:lnSpc>
                <a:spcPts val="1223"/>
              </a:lnSpc>
              <a:buNone/>
            </a:pPr>
            <a:r>
              <a:rPr lang="en-US" sz="873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vllm serve HuggingFaceTB/SmolLM-135M --port 8000</a:t>
            </a:r>
            <a:endParaRPr lang="en-US" sz="873" dirty="0"/>
          </a:p>
        </p:txBody>
      </p:sp>
      <p:sp>
        <p:nvSpPr>
          <p:cNvPr id="6" name="Shape 4"/>
          <p:cNvSpPr/>
          <p:nvPr/>
        </p:nvSpPr>
        <p:spPr>
          <a:xfrm>
            <a:off x="815975" y="3119636"/>
            <a:ext cx="6191250" cy="2719189"/>
          </a:xfrm>
          <a:prstGeom prst="roundRect">
            <a:avLst>
              <a:gd name="adj" fmla="val 3620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47750" y="3326011"/>
            <a:ext cx="5899531" cy="15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2"/>
              </a:lnSpc>
              <a:buNone/>
            </a:pPr>
            <a:r>
              <a:rPr lang="en-US" sz="780" dirty="0">
                <a:solidFill>
                  <a:srgbClr val="8A93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# task_5_api_server.py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047750" y="3523506"/>
            <a:ext cx="5899531" cy="15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2"/>
              </a:lnSpc>
              <a:buNone/>
            </a:pPr>
            <a:r>
              <a:rPr lang="en-US" sz="78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from openai import OpenAI</a:t>
            </a:r>
            <a:endParaRPr lang="en-US" sz="780" dirty="0"/>
          </a:p>
        </p:txBody>
      </p:sp>
      <p:sp>
        <p:nvSpPr>
          <p:cNvPr id="9" name="Text 7"/>
          <p:cNvSpPr/>
          <p:nvPr/>
        </p:nvSpPr>
        <p:spPr>
          <a:xfrm>
            <a:off x="1047750" y="3918496"/>
            <a:ext cx="5899531" cy="15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2"/>
              </a:lnSpc>
              <a:buNone/>
            </a:pPr>
            <a:r>
              <a:rPr lang="en-US" sz="78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client = OpenAI(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1047750" y="4115991"/>
            <a:ext cx="5899531" cy="15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2"/>
              </a:lnSpc>
              <a:buNone/>
            </a:pPr>
            <a:r>
              <a:rPr lang="en-US" sz="780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base_url="http://localhost:8000/v1",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1047750" y="4313486"/>
            <a:ext cx="5899531" cy="15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2"/>
              </a:lnSpc>
              <a:buNone/>
            </a:pPr>
            <a:r>
              <a:rPr lang="en-US" sz="78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api_key="not-needed",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1047750" y="4510980"/>
            <a:ext cx="5899531" cy="15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2"/>
              </a:lnSpc>
              <a:buNone/>
            </a:pPr>
            <a:r>
              <a:rPr lang="en-US" sz="78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1047750" y="4708475"/>
            <a:ext cx="5899531" cy="15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2"/>
              </a:lnSpc>
              <a:buNone/>
            </a:pPr>
            <a:r>
              <a:rPr lang="en-US" sz="78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response = client.completions.create(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1047750" y="4905970"/>
            <a:ext cx="5899531" cy="15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2"/>
              </a:lnSpc>
              <a:buNone/>
            </a:pPr>
            <a:r>
              <a:rPr lang="en-US" sz="78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model="HuggingFaceTB/SmolLM-135M",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1047750" y="5103465"/>
            <a:ext cx="5899531" cy="15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2"/>
              </a:lnSpc>
              <a:buNone/>
            </a:pPr>
            <a:r>
              <a:rPr lang="en-US" sz="78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prompt="What is inference in machine learning?",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1047750" y="5300960"/>
            <a:ext cx="5899531" cy="15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2"/>
              </a:lnSpc>
              <a:buNone/>
            </a:pPr>
            <a:r>
              <a:rPr lang="en-US" sz="78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max_tokens=50,</a:t>
            </a:r>
            <a:endParaRPr lang="en-US" sz="780" dirty="0"/>
          </a:p>
        </p:txBody>
      </p:sp>
      <p:sp>
        <p:nvSpPr>
          <p:cNvPr id="17" name="Text 15"/>
          <p:cNvSpPr/>
          <p:nvPr/>
        </p:nvSpPr>
        <p:spPr>
          <a:xfrm>
            <a:off x="1047750" y="5498455"/>
            <a:ext cx="5899531" cy="159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2"/>
              </a:lnSpc>
              <a:buNone/>
            </a:pPr>
            <a:r>
              <a:rPr lang="en-US" sz="78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7318375" y="2040186"/>
            <a:ext cx="4057650" cy="2233265"/>
          </a:xfrm>
          <a:prstGeom prst="roundRect">
            <a:avLst>
              <a:gd name="adj" fmla="val 4407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0150" y="2246561"/>
            <a:ext cx="3701923" cy="1863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4"/>
              </a:lnSpc>
              <a:buNone/>
            </a:pPr>
            <a:r>
              <a:rPr lang="en-US" sz="910" dirty="0">
                <a:solidFill>
                  <a:srgbClr val="8A93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--- RESPONSE ---</a:t>
            </a:r>
            <a:endParaRPr lang="en-US" sz="910" dirty="0"/>
          </a:p>
        </p:txBody>
      </p:sp>
      <p:sp>
        <p:nvSpPr>
          <p:cNvPr id="20" name="Text 18"/>
          <p:cNvSpPr/>
          <p:nvPr/>
        </p:nvSpPr>
        <p:spPr>
          <a:xfrm>
            <a:off x="7550150" y="2483693"/>
            <a:ext cx="3701923" cy="186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4"/>
              </a:lnSpc>
              <a:buNone/>
            </a:pPr>
            <a:r>
              <a:rPr lang="en-US" sz="91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Model: HuggingFaceTB/SmolLM-135M</a:t>
            </a:r>
            <a:endParaRPr lang="en-US" sz="910" dirty="0"/>
          </a:p>
        </p:txBody>
      </p:sp>
      <p:sp>
        <p:nvSpPr>
          <p:cNvPr id="21" name="Text 19"/>
          <p:cNvSpPr/>
          <p:nvPr/>
        </p:nvSpPr>
        <p:spPr>
          <a:xfrm>
            <a:off x="7550150" y="2720777"/>
            <a:ext cx="3701923" cy="186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4"/>
              </a:lnSpc>
              <a:buNone/>
            </a:pPr>
            <a:r>
              <a:rPr lang="en-US" sz="91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Latency: 0.56s</a:t>
            </a:r>
            <a:endParaRPr lang="en-US" sz="910" dirty="0"/>
          </a:p>
        </p:txBody>
      </p:sp>
      <p:sp>
        <p:nvSpPr>
          <p:cNvPr id="22" name="Text 20"/>
          <p:cNvSpPr/>
          <p:nvPr/>
        </p:nvSpPr>
        <p:spPr>
          <a:xfrm>
            <a:off x="7550150" y="2957860"/>
            <a:ext cx="3701923" cy="186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4"/>
              </a:lnSpc>
              <a:buNone/>
            </a:pPr>
            <a:r>
              <a:rPr lang="en-US" sz="91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Prompt tokens: 7</a:t>
            </a:r>
            <a:endParaRPr lang="en-US" sz="910" dirty="0"/>
          </a:p>
        </p:txBody>
      </p:sp>
      <p:sp>
        <p:nvSpPr>
          <p:cNvPr id="23" name="Text 21"/>
          <p:cNvSpPr/>
          <p:nvPr/>
        </p:nvSpPr>
        <p:spPr>
          <a:xfrm>
            <a:off x="7550150" y="3194943"/>
            <a:ext cx="3701923" cy="186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4"/>
              </a:lnSpc>
              <a:buNone/>
            </a:pPr>
            <a:r>
              <a:rPr lang="en-US" sz="91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Completion tokens: 50</a:t>
            </a:r>
            <a:endParaRPr lang="en-US" sz="910" dirty="0"/>
          </a:p>
        </p:txBody>
      </p:sp>
      <p:sp>
        <p:nvSpPr>
          <p:cNvPr id="24" name="Text 22"/>
          <p:cNvSpPr/>
          <p:nvPr/>
        </p:nvSpPr>
        <p:spPr>
          <a:xfrm>
            <a:off x="7550150" y="3432026"/>
            <a:ext cx="3701923" cy="186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4"/>
              </a:lnSpc>
              <a:buNone/>
            </a:pPr>
            <a:r>
              <a:rPr lang="en-US" sz="910" dirty="0">
                <a:solidFill>
                  <a:srgbClr val="8A93A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--- API DETAILS ---</a:t>
            </a:r>
            <a:endParaRPr lang="en-US" sz="910" dirty="0"/>
          </a:p>
        </p:txBody>
      </p:sp>
      <p:sp>
        <p:nvSpPr>
          <p:cNvPr id="25" name="Text 23"/>
          <p:cNvSpPr/>
          <p:nvPr/>
        </p:nvSpPr>
        <p:spPr>
          <a:xfrm>
            <a:off x="7550150" y="3669109"/>
            <a:ext cx="3701923" cy="186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4"/>
              </a:lnSpc>
              <a:buNone/>
            </a:pPr>
            <a:r>
              <a:rPr lang="en-US" sz="910" dirty="0">
                <a:solidFill>
                  <a:srgbClr val="E8EDF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Endpoint: /v1/completions</a:t>
            </a:r>
            <a:endParaRPr lang="en-US" sz="910" dirty="0"/>
          </a:p>
        </p:txBody>
      </p:sp>
      <p:sp>
        <p:nvSpPr>
          <p:cNvPr id="26" name="Text 24"/>
          <p:cNvSpPr/>
          <p:nvPr/>
        </p:nvSpPr>
        <p:spPr>
          <a:xfrm>
            <a:off x="7550150" y="3906193"/>
            <a:ext cx="3701923" cy="186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4"/>
              </a:lnSpc>
              <a:buNone/>
            </a:pPr>
            <a:r>
              <a:rPr lang="en-US" sz="910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Format: OpenAI-compatible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7327900" y="4429026"/>
            <a:ext cx="0" cy="403275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3000" y="4454426"/>
            <a:ext cx="4002786" cy="377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69" b="1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Zero code changes</a:t>
            </a:r>
            <a:r>
              <a:rPr lang="en-US" sz="1369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for existing OpenAI SDK apps.</a:t>
            </a:r>
            <a:endParaRPr lang="en-US" sz="1369" dirty="0"/>
          </a:p>
        </p:txBody>
      </p:sp>
      <p:sp>
        <p:nvSpPr>
          <p:cNvPr id="29" name="Shape 27"/>
          <p:cNvSpPr/>
          <p:nvPr/>
        </p:nvSpPr>
        <p:spPr>
          <a:xfrm>
            <a:off x="7327900" y="4933900"/>
            <a:ext cx="0" cy="403225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3000" y="4959300"/>
            <a:ext cx="4002786" cy="3778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44"/>
              </a:lnSpc>
              <a:buNone/>
            </a:pPr>
            <a:r>
              <a:rPr lang="en-US" sz="1103" b="1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Chat, completions and embeddings</a:t>
            </a:r>
            <a:r>
              <a:rPr lang="en-US" sz="1103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endpoints out of the box.</a:t>
            </a:r>
            <a:endParaRPr lang="en-US" sz="1103" dirty="0"/>
          </a:p>
        </p:txBody>
      </p:sp>
      <p:sp>
        <p:nvSpPr>
          <p:cNvPr id="31" name="Shape 29"/>
          <p:cNvSpPr/>
          <p:nvPr/>
        </p:nvSpPr>
        <p:spPr>
          <a:xfrm>
            <a:off x="7327900" y="5438725"/>
            <a:ext cx="0" cy="403275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3000" y="5464125"/>
            <a:ext cx="4002786" cy="377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037" b="1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is how you self-host</a:t>
            </a:r>
            <a:r>
              <a:rPr lang="en-US" sz="1037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an open or custom model in production.</a:t>
            </a:r>
            <a:endParaRPr lang="en-US" sz="1037" dirty="0"/>
          </a:p>
        </p:txBody>
      </p:sp>
      <p:sp>
        <p:nvSpPr>
          <p:cNvPr id="33" name="Shape 31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34" name="Image 0" descr="PyCon Africa 2026 logo">    </p:cNvPr>
          <p:cNvPicPr>
            <a:picLocks noChangeAspect="1"/>
          </p:cNvPicPr>
          <p:nvPr/>
        </p:nvPicPr>
        <p:blipFill>
          <a:blip r:embed="rId1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111962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SECOND IDEA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Continuous batching keeps every slot busy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40186"/>
            <a:ext cx="5181600" cy="3277939"/>
          </a:xfrm>
          <a:prstGeom prst="roundRect">
            <a:avLst>
              <a:gd name="adj" fmla="val 3778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2271961"/>
            <a:ext cx="4807268" cy="272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3"/>
              </a:lnSpc>
              <a:buNone/>
            </a:pPr>
            <a:r>
              <a:rPr lang="en-US" sz="1644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Static batching</a:t>
            </a:r>
            <a:endParaRPr lang="en-US" sz="1644" dirty="0"/>
          </a:p>
        </p:txBody>
      </p:sp>
      <p:sp>
        <p:nvSpPr>
          <p:cNvPr id="6" name="Text 4"/>
          <p:cNvSpPr/>
          <p:nvPr/>
        </p:nvSpPr>
        <p:spPr>
          <a:xfrm>
            <a:off x="1073150" y="2645668"/>
            <a:ext cx="4807268" cy="428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86"/>
              </a:lnSpc>
              <a:buNone/>
            </a:pPr>
            <a:r>
              <a:rPr lang="en-US" sz="1133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batch runs until its longest request finishes. Short requests leave their slots idle.</a:t>
            </a:r>
            <a:endParaRPr lang="en-US" sz="1133" dirty="0"/>
          </a:p>
        </p:txBody>
      </p:sp>
      <p:sp>
        <p:nvSpPr>
          <p:cNvPr id="7" name="Text 5"/>
          <p:cNvSpPr/>
          <p:nvPr/>
        </p:nvSpPr>
        <p:spPr>
          <a:xfrm>
            <a:off x="1073150" y="3175496"/>
            <a:ext cx="4807268" cy="198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79" b="1" spc="150" kern="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STEPS →</a:t>
            </a:r>
            <a:endParaRPr lang="en-US" sz="979" dirty="0"/>
          </a:p>
        </p:txBody>
      </p:sp>
      <p:sp>
        <p:nvSpPr>
          <p:cNvPr id="8" name="Shape 6"/>
          <p:cNvSpPr/>
          <p:nvPr/>
        </p:nvSpPr>
        <p:spPr>
          <a:xfrm>
            <a:off x="1073150" y="34751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9" name="Shape 7"/>
          <p:cNvSpPr/>
          <p:nvPr/>
        </p:nvSpPr>
        <p:spPr>
          <a:xfrm>
            <a:off x="1662906" y="34751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10" name="Shape 8"/>
          <p:cNvSpPr/>
          <p:nvPr/>
        </p:nvSpPr>
        <p:spPr>
          <a:xfrm>
            <a:off x="2252663" y="34751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11" name="Shape 9"/>
          <p:cNvSpPr/>
          <p:nvPr/>
        </p:nvSpPr>
        <p:spPr>
          <a:xfrm>
            <a:off x="2842419" y="34751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12" name="Shape 10"/>
          <p:cNvSpPr/>
          <p:nvPr/>
        </p:nvSpPr>
        <p:spPr>
          <a:xfrm>
            <a:off x="3432175" y="34751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13" name="Shape 11"/>
          <p:cNvSpPr/>
          <p:nvPr/>
        </p:nvSpPr>
        <p:spPr>
          <a:xfrm>
            <a:off x="4021931" y="34751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14" name="Shape 12"/>
          <p:cNvSpPr/>
          <p:nvPr/>
        </p:nvSpPr>
        <p:spPr>
          <a:xfrm>
            <a:off x="4611688" y="34751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15" name="Shape 13"/>
          <p:cNvSpPr/>
          <p:nvPr/>
        </p:nvSpPr>
        <p:spPr>
          <a:xfrm>
            <a:off x="5201444" y="34751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3150" y="38307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DC7828"/>
          </a:solidFill>
          <a:ln/>
        </p:spPr>
      </p:sp>
      <p:sp>
        <p:nvSpPr>
          <p:cNvPr id="17" name="Shape 15"/>
          <p:cNvSpPr/>
          <p:nvPr/>
        </p:nvSpPr>
        <p:spPr>
          <a:xfrm>
            <a:off x="1662906" y="38307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DC7828"/>
          </a:solidFill>
          <a:ln/>
        </p:spPr>
      </p:sp>
      <p:sp>
        <p:nvSpPr>
          <p:cNvPr id="18" name="Shape 16"/>
          <p:cNvSpPr/>
          <p:nvPr/>
        </p:nvSpPr>
        <p:spPr>
          <a:xfrm>
            <a:off x="2252663" y="38307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DC7828"/>
          </a:solidFill>
          <a:ln/>
        </p:spPr>
      </p:sp>
      <p:sp>
        <p:nvSpPr>
          <p:cNvPr id="19" name="Shape 17"/>
          <p:cNvSpPr/>
          <p:nvPr/>
        </p:nvSpPr>
        <p:spPr>
          <a:xfrm>
            <a:off x="2842419" y="38307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EBE6DC"/>
          </a:solidFill>
          <a:ln/>
        </p:spPr>
      </p:sp>
      <p:sp>
        <p:nvSpPr>
          <p:cNvPr id="20" name="Shape 18"/>
          <p:cNvSpPr/>
          <p:nvPr/>
        </p:nvSpPr>
        <p:spPr>
          <a:xfrm>
            <a:off x="3432175" y="38307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EBE6DC"/>
          </a:solidFill>
          <a:ln/>
        </p:spPr>
      </p:sp>
      <p:sp>
        <p:nvSpPr>
          <p:cNvPr id="21" name="Shape 19"/>
          <p:cNvSpPr/>
          <p:nvPr/>
        </p:nvSpPr>
        <p:spPr>
          <a:xfrm>
            <a:off x="4021931" y="38307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EBE6DC"/>
          </a:solidFill>
          <a:ln/>
        </p:spPr>
      </p:sp>
      <p:sp>
        <p:nvSpPr>
          <p:cNvPr id="22" name="Shape 20"/>
          <p:cNvSpPr/>
          <p:nvPr/>
        </p:nvSpPr>
        <p:spPr>
          <a:xfrm>
            <a:off x="4611688" y="38307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EBE6DC"/>
          </a:solidFill>
          <a:ln/>
        </p:spPr>
      </p:sp>
      <p:sp>
        <p:nvSpPr>
          <p:cNvPr id="23" name="Shape 21"/>
          <p:cNvSpPr/>
          <p:nvPr/>
        </p:nvSpPr>
        <p:spPr>
          <a:xfrm>
            <a:off x="5201444" y="38307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EBE6DC"/>
          </a:solidFill>
          <a:ln/>
        </p:spPr>
      </p:sp>
      <p:sp>
        <p:nvSpPr>
          <p:cNvPr id="24" name="Shape 22"/>
          <p:cNvSpPr/>
          <p:nvPr/>
        </p:nvSpPr>
        <p:spPr>
          <a:xfrm>
            <a:off x="1073150" y="41863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8A93A0"/>
          </a:solidFill>
          <a:ln/>
        </p:spPr>
      </p:sp>
      <p:sp>
        <p:nvSpPr>
          <p:cNvPr id="25" name="Shape 23"/>
          <p:cNvSpPr/>
          <p:nvPr/>
        </p:nvSpPr>
        <p:spPr>
          <a:xfrm>
            <a:off x="1662906" y="41863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8A93A0"/>
          </a:solidFill>
          <a:ln/>
        </p:spPr>
      </p:sp>
      <p:sp>
        <p:nvSpPr>
          <p:cNvPr id="26" name="Shape 24"/>
          <p:cNvSpPr/>
          <p:nvPr/>
        </p:nvSpPr>
        <p:spPr>
          <a:xfrm>
            <a:off x="2252663" y="41863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8A93A0"/>
          </a:solidFill>
          <a:ln/>
        </p:spPr>
      </p:sp>
      <p:sp>
        <p:nvSpPr>
          <p:cNvPr id="27" name="Shape 25"/>
          <p:cNvSpPr/>
          <p:nvPr/>
        </p:nvSpPr>
        <p:spPr>
          <a:xfrm>
            <a:off x="2842419" y="41863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8A93A0"/>
          </a:solidFill>
          <a:ln/>
        </p:spPr>
      </p:sp>
      <p:sp>
        <p:nvSpPr>
          <p:cNvPr id="28" name="Shape 26"/>
          <p:cNvSpPr/>
          <p:nvPr/>
        </p:nvSpPr>
        <p:spPr>
          <a:xfrm>
            <a:off x="3432175" y="41863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8A93A0"/>
          </a:solidFill>
          <a:ln/>
        </p:spPr>
      </p:sp>
      <p:sp>
        <p:nvSpPr>
          <p:cNvPr id="29" name="Shape 27"/>
          <p:cNvSpPr/>
          <p:nvPr/>
        </p:nvSpPr>
        <p:spPr>
          <a:xfrm>
            <a:off x="4021931" y="41863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EBE6DC"/>
          </a:solidFill>
          <a:ln/>
        </p:spPr>
      </p:sp>
      <p:sp>
        <p:nvSpPr>
          <p:cNvPr id="30" name="Shape 28"/>
          <p:cNvSpPr/>
          <p:nvPr/>
        </p:nvSpPr>
        <p:spPr>
          <a:xfrm>
            <a:off x="4611688" y="41863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EBE6DC"/>
          </a:solidFill>
          <a:ln/>
        </p:spPr>
      </p:sp>
      <p:sp>
        <p:nvSpPr>
          <p:cNvPr id="31" name="Shape 29"/>
          <p:cNvSpPr/>
          <p:nvPr/>
        </p:nvSpPr>
        <p:spPr>
          <a:xfrm>
            <a:off x="5201444" y="41863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EBE6DC"/>
          </a:solidFill>
          <a:ln/>
        </p:spPr>
      </p:sp>
      <p:sp>
        <p:nvSpPr>
          <p:cNvPr id="32" name="Shape 30"/>
          <p:cNvSpPr/>
          <p:nvPr/>
        </p:nvSpPr>
        <p:spPr>
          <a:xfrm>
            <a:off x="1073150" y="45419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505F6E"/>
          </a:solidFill>
          <a:ln/>
        </p:spPr>
      </p:sp>
      <p:sp>
        <p:nvSpPr>
          <p:cNvPr id="33" name="Shape 31"/>
          <p:cNvSpPr/>
          <p:nvPr/>
        </p:nvSpPr>
        <p:spPr>
          <a:xfrm>
            <a:off x="1662906" y="45419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505F6E"/>
          </a:solidFill>
          <a:ln/>
        </p:spPr>
      </p:sp>
      <p:sp>
        <p:nvSpPr>
          <p:cNvPr id="34" name="Shape 32"/>
          <p:cNvSpPr/>
          <p:nvPr/>
        </p:nvSpPr>
        <p:spPr>
          <a:xfrm>
            <a:off x="2252663" y="45419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EBE6DC"/>
          </a:solidFill>
          <a:ln/>
        </p:spPr>
      </p:sp>
      <p:sp>
        <p:nvSpPr>
          <p:cNvPr id="35" name="Shape 33"/>
          <p:cNvSpPr/>
          <p:nvPr/>
        </p:nvSpPr>
        <p:spPr>
          <a:xfrm>
            <a:off x="2842419" y="45419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EBE6DC"/>
          </a:solidFill>
          <a:ln/>
        </p:spPr>
      </p:sp>
      <p:sp>
        <p:nvSpPr>
          <p:cNvPr id="36" name="Shape 34"/>
          <p:cNvSpPr/>
          <p:nvPr/>
        </p:nvSpPr>
        <p:spPr>
          <a:xfrm>
            <a:off x="3432175" y="45419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EBE6DC"/>
          </a:solidFill>
          <a:ln/>
        </p:spPr>
      </p:sp>
      <p:sp>
        <p:nvSpPr>
          <p:cNvPr id="37" name="Shape 35"/>
          <p:cNvSpPr/>
          <p:nvPr/>
        </p:nvSpPr>
        <p:spPr>
          <a:xfrm>
            <a:off x="4021931" y="45419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EBE6DC"/>
          </a:solidFill>
          <a:ln/>
        </p:spPr>
      </p:sp>
      <p:sp>
        <p:nvSpPr>
          <p:cNvPr id="38" name="Shape 36"/>
          <p:cNvSpPr/>
          <p:nvPr/>
        </p:nvSpPr>
        <p:spPr>
          <a:xfrm>
            <a:off x="4611688" y="45419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EBE6DC"/>
          </a:solidFill>
          <a:ln/>
        </p:spPr>
      </p:sp>
      <p:sp>
        <p:nvSpPr>
          <p:cNvPr id="39" name="Shape 37"/>
          <p:cNvSpPr/>
          <p:nvPr/>
        </p:nvSpPr>
        <p:spPr>
          <a:xfrm>
            <a:off x="5201444" y="4541937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EBE6DC"/>
          </a:solidFill>
          <a:ln/>
        </p:spPr>
      </p:sp>
      <p:sp>
        <p:nvSpPr>
          <p:cNvPr id="40" name="Text 38"/>
          <p:cNvSpPr/>
          <p:nvPr/>
        </p:nvSpPr>
        <p:spPr>
          <a:xfrm>
            <a:off x="1073150" y="4712246"/>
            <a:ext cx="4921250" cy="399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13"/>
              </a:lnSpc>
              <a:buNone/>
            </a:pPr>
            <a:r>
              <a:rPr lang="en-US" sz="108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slots, four requests. Pale cells are idle GPU time while the queue waits.</a:t>
            </a:r>
            <a:endParaRPr lang="en-US" sz="1081" dirty="0"/>
          </a:p>
        </p:txBody>
      </p:sp>
      <p:sp>
        <p:nvSpPr>
          <p:cNvPr id="41" name="Shape 39"/>
          <p:cNvSpPr/>
          <p:nvPr/>
        </p:nvSpPr>
        <p:spPr>
          <a:xfrm>
            <a:off x="6203950" y="2037011"/>
            <a:ext cx="5175250" cy="3284289"/>
          </a:xfrm>
          <a:prstGeom prst="roundRect">
            <a:avLst>
              <a:gd name="adj" fmla="val 3867"/>
            </a:avLst>
          </a:prstGeom>
          <a:solidFill>
            <a:srgbClr val="1C2530"/>
          </a:solidFill>
          <a:ln/>
        </p:spPr>
      </p:sp>
      <p:sp>
        <p:nvSpPr>
          <p:cNvPr id="42" name="Text 40"/>
          <p:cNvSpPr/>
          <p:nvPr/>
        </p:nvSpPr>
        <p:spPr>
          <a:xfrm>
            <a:off x="6457950" y="2265611"/>
            <a:ext cx="4807268" cy="273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73"/>
              </a:lnSpc>
              <a:buNone/>
            </a:pPr>
            <a:r>
              <a:rPr lang="en-US" sz="1644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Continuous batching</a:t>
            </a:r>
            <a:endParaRPr lang="en-US" sz="1644" dirty="0"/>
          </a:p>
        </p:txBody>
      </p:sp>
      <p:sp>
        <p:nvSpPr>
          <p:cNvPr id="43" name="Text 41"/>
          <p:cNvSpPr/>
          <p:nvPr/>
        </p:nvSpPr>
        <p:spPr>
          <a:xfrm>
            <a:off x="6457950" y="2640657"/>
            <a:ext cx="4807268" cy="4304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1"/>
              </a:lnSpc>
              <a:buNone/>
            </a:pPr>
            <a:r>
              <a:rPr lang="en-US" sz="1151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 every decode step, finished requests leave and waiting ones join. Freed blocks are reused immediately.</a:t>
            </a:r>
            <a:endParaRPr lang="en-US" sz="1151" dirty="0"/>
          </a:p>
        </p:txBody>
      </p:sp>
      <p:sp>
        <p:nvSpPr>
          <p:cNvPr id="44" name="Text 42"/>
          <p:cNvSpPr/>
          <p:nvPr/>
        </p:nvSpPr>
        <p:spPr>
          <a:xfrm>
            <a:off x="6457950" y="3172718"/>
            <a:ext cx="4807268" cy="198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70"/>
              </a:lnSpc>
              <a:buNone/>
            </a:pPr>
            <a:r>
              <a:rPr lang="en-US" sz="979" b="1" spc="150" kern="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DECODE STEPS →</a:t>
            </a:r>
            <a:endParaRPr lang="en-US" sz="979" dirty="0"/>
          </a:p>
        </p:txBody>
      </p:sp>
      <p:sp>
        <p:nvSpPr>
          <p:cNvPr id="45" name="Shape 43"/>
          <p:cNvSpPr/>
          <p:nvPr/>
        </p:nvSpPr>
        <p:spPr>
          <a:xfrm>
            <a:off x="6457950" y="34733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46" name="Shape 44"/>
          <p:cNvSpPr/>
          <p:nvPr/>
        </p:nvSpPr>
        <p:spPr>
          <a:xfrm>
            <a:off x="7047706" y="34733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47" name="Shape 45"/>
          <p:cNvSpPr/>
          <p:nvPr/>
        </p:nvSpPr>
        <p:spPr>
          <a:xfrm>
            <a:off x="7637463" y="34733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48" name="Shape 46"/>
          <p:cNvSpPr/>
          <p:nvPr/>
        </p:nvSpPr>
        <p:spPr>
          <a:xfrm>
            <a:off x="8227219" y="34733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49" name="Shape 47"/>
          <p:cNvSpPr/>
          <p:nvPr/>
        </p:nvSpPr>
        <p:spPr>
          <a:xfrm>
            <a:off x="8816975" y="34733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50" name="Shape 48"/>
          <p:cNvSpPr/>
          <p:nvPr/>
        </p:nvSpPr>
        <p:spPr>
          <a:xfrm>
            <a:off x="9406731" y="34733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51" name="Shape 49"/>
          <p:cNvSpPr/>
          <p:nvPr/>
        </p:nvSpPr>
        <p:spPr>
          <a:xfrm>
            <a:off x="9996488" y="34733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52" name="Shape 50"/>
          <p:cNvSpPr/>
          <p:nvPr/>
        </p:nvSpPr>
        <p:spPr>
          <a:xfrm>
            <a:off x="10586244" y="34733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FAA28"/>
          </a:solidFill>
          <a:ln/>
        </p:spPr>
      </p:sp>
      <p:sp>
        <p:nvSpPr>
          <p:cNvPr id="53" name="Shape 51"/>
          <p:cNvSpPr/>
          <p:nvPr/>
        </p:nvSpPr>
        <p:spPr>
          <a:xfrm>
            <a:off x="6457950" y="38289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DC7828"/>
          </a:solidFill>
          <a:ln/>
        </p:spPr>
      </p:sp>
      <p:sp>
        <p:nvSpPr>
          <p:cNvPr id="54" name="Shape 52"/>
          <p:cNvSpPr/>
          <p:nvPr/>
        </p:nvSpPr>
        <p:spPr>
          <a:xfrm>
            <a:off x="7047706" y="38289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DC7828"/>
          </a:solidFill>
          <a:ln/>
        </p:spPr>
      </p:sp>
      <p:sp>
        <p:nvSpPr>
          <p:cNvPr id="55" name="Shape 53"/>
          <p:cNvSpPr/>
          <p:nvPr/>
        </p:nvSpPr>
        <p:spPr>
          <a:xfrm>
            <a:off x="7637463" y="38289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DC7828"/>
          </a:solidFill>
          <a:ln/>
        </p:spPr>
      </p:sp>
      <p:sp>
        <p:nvSpPr>
          <p:cNvPr id="56" name="Shape 54"/>
          <p:cNvSpPr/>
          <p:nvPr/>
        </p:nvSpPr>
        <p:spPr>
          <a:xfrm>
            <a:off x="8227219" y="38289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C4CCD6"/>
          </a:solidFill>
          <a:ln/>
        </p:spPr>
      </p:sp>
      <p:sp>
        <p:nvSpPr>
          <p:cNvPr id="57" name="Shape 55"/>
          <p:cNvSpPr/>
          <p:nvPr/>
        </p:nvSpPr>
        <p:spPr>
          <a:xfrm>
            <a:off x="8816975" y="38289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C4CCD6"/>
          </a:solidFill>
          <a:ln/>
        </p:spPr>
      </p:sp>
      <p:sp>
        <p:nvSpPr>
          <p:cNvPr id="58" name="Shape 56"/>
          <p:cNvSpPr/>
          <p:nvPr/>
        </p:nvSpPr>
        <p:spPr>
          <a:xfrm>
            <a:off x="9406731" y="38289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C4CCD6"/>
          </a:solidFill>
          <a:ln/>
        </p:spPr>
      </p:sp>
      <p:sp>
        <p:nvSpPr>
          <p:cNvPr id="59" name="Shape 57"/>
          <p:cNvSpPr/>
          <p:nvPr/>
        </p:nvSpPr>
        <p:spPr>
          <a:xfrm>
            <a:off x="9996488" y="38289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C4CCD6"/>
          </a:solidFill>
          <a:ln/>
        </p:spPr>
      </p:sp>
      <p:sp>
        <p:nvSpPr>
          <p:cNvPr id="60" name="Shape 58"/>
          <p:cNvSpPr/>
          <p:nvPr/>
        </p:nvSpPr>
        <p:spPr>
          <a:xfrm>
            <a:off x="10586244" y="38289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C4CCD6"/>
          </a:solidFill>
          <a:ln/>
        </p:spPr>
      </p:sp>
      <p:sp>
        <p:nvSpPr>
          <p:cNvPr id="61" name="Shape 59"/>
          <p:cNvSpPr/>
          <p:nvPr/>
        </p:nvSpPr>
        <p:spPr>
          <a:xfrm>
            <a:off x="6457950" y="41845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8A93A0"/>
          </a:solidFill>
          <a:ln/>
        </p:spPr>
      </p:sp>
      <p:sp>
        <p:nvSpPr>
          <p:cNvPr id="62" name="Shape 60"/>
          <p:cNvSpPr/>
          <p:nvPr/>
        </p:nvSpPr>
        <p:spPr>
          <a:xfrm>
            <a:off x="7047706" y="41845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8A93A0"/>
          </a:solidFill>
          <a:ln/>
        </p:spPr>
      </p:sp>
      <p:sp>
        <p:nvSpPr>
          <p:cNvPr id="63" name="Shape 61"/>
          <p:cNvSpPr/>
          <p:nvPr/>
        </p:nvSpPr>
        <p:spPr>
          <a:xfrm>
            <a:off x="7637463" y="41845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8A93A0"/>
          </a:solidFill>
          <a:ln/>
        </p:spPr>
      </p:sp>
      <p:sp>
        <p:nvSpPr>
          <p:cNvPr id="64" name="Shape 62"/>
          <p:cNvSpPr/>
          <p:nvPr/>
        </p:nvSpPr>
        <p:spPr>
          <a:xfrm>
            <a:off x="8227219" y="41845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8A93A0"/>
          </a:solidFill>
          <a:ln/>
        </p:spPr>
      </p:sp>
      <p:sp>
        <p:nvSpPr>
          <p:cNvPr id="65" name="Shape 63"/>
          <p:cNvSpPr/>
          <p:nvPr/>
        </p:nvSpPr>
        <p:spPr>
          <a:xfrm>
            <a:off x="8816975" y="41845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8A93A0"/>
          </a:solidFill>
          <a:ln/>
        </p:spPr>
      </p:sp>
      <p:sp>
        <p:nvSpPr>
          <p:cNvPr id="66" name="Shape 64"/>
          <p:cNvSpPr/>
          <p:nvPr/>
        </p:nvSpPr>
        <p:spPr>
          <a:xfrm>
            <a:off x="9406731" y="41845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AF7F1"/>
          </a:solidFill>
          <a:ln/>
        </p:spPr>
      </p:sp>
      <p:sp>
        <p:nvSpPr>
          <p:cNvPr id="67" name="Shape 65"/>
          <p:cNvSpPr/>
          <p:nvPr/>
        </p:nvSpPr>
        <p:spPr>
          <a:xfrm>
            <a:off x="9996488" y="41845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AF7F1"/>
          </a:solidFill>
          <a:ln/>
        </p:spPr>
      </p:sp>
      <p:sp>
        <p:nvSpPr>
          <p:cNvPr id="68" name="Shape 66"/>
          <p:cNvSpPr/>
          <p:nvPr/>
        </p:nvSpPr>
        <p:spPr>
          <a:xfrm>
            <a:off x="10586244" y="41845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FAF7F1"/>
          </a:solidFill>
          <a:ln/>
        </p:spPr>
      </p:sp>
      <p:sp>
        <p:nvSpPr>
          <p:cNvPr id="69" name="Shape 67"/>
          <p:cNvSpPr/>
          <p:nvPr/>
        </p:nvSpPr>
        <p:spPr>
          <a:xfrm>
            <a:off x="6457950" y="45401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505F6E"/>
          </a:solidFill>
          <a:ln/>
        </p:spPr>
      </p:sp>
      <p:sp>
        <p:nvSpPr>
          <p:cNvPr id="70" name="Shape 68"/>
          <p:cNvSpPr/>
          <p:nvPr/>
        </p:nvSpPr>
        <p:spPr>
          <a:xfrm>
            <a:off x="7047706" y="45401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505F6E"/>
          </a:solidFill>
          <a:ln/>
        </p:spPr>
      </p:sp>
      <p:sp>
        <p:nvSpPr>
          <p:cNvPr id="71" name="Shape 69"/>
          <p:cNvSpPr/>
          <p:nvPr/>
        </p:nvSpPr>
        <p:spPr>
          <a:xfrm>
            <a:off x="7637463" y="45401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DC7828"/>
          </a:solidFill>
          <a:ln/>
        </p:spPr>
      </p:sp>
      <p:sp>
        <p:nvSpPr>
          <p:cNvPr id="72" name="Shape 70"/>
          <p:cNvSpPr/>
          <p:nvPr/>
        </p:nvSpPr>
        <p:spPr>
          <a:xfrm>
            <a:off x="8227219" y="45401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DC7828"/>
          </a:solidFill>
          <a:ln/>
        </p:spPr>
      </p:sp>
      <p:sp>
        <p:nvSpPr>
          <p:cNvPr id="73" name="Shape 71"/>
          <p:cNvSpPr/>
          <p:nvPr/>
        </p:nvSpPr>
        <p:spPr>
          <a:xfrm>
            <a:off x="8816975" y="45401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DC7828"/>
          </a:solidFill>
          <a:ln/>
        </p:spPr>
      </p:sp>
      <p:sp>
        <p:nvSpPr>
          <p:cNvPr id="74" name="Shape 72"/>
          <p:cNvSpPr/>
          <p:nvPr/>
        </p:nvSpPr>
        <p:spPr>
          <a:xfrm>
            <a:off x="9406731" y="45401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DC7828"/>
          </a:solidFill>
          <a:ln/>
        </p:spPr>
      </p:sp>
      <p:sp>
        <p:nvSpPr>
          <p:cNvPr id="75" name="Shape 73"/>
          <p:cNvSpPr/>
          <p:nvPr/>
        </p:nvSpPr>
        <p:spPr>
          <a:xfrm>
            <a:off x="9996488" y="45401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C4CCD6"/>
          </a:solidFill>
          <a:ln/>
        </p:spPr>
      </p:sp>
      <p:sp>
        <p:nvSpPr>
          <p:cNvPr id="76" name="Shape 74"/>
          <p:cNvSpPr/>
          <p:nvPr/>
        </p:nvSpPr>
        <p:spPr>
          <a:xfrm>
            <a:off x="10586244" y="4540101"/>
            <a:ext cx="538956" cy="304800"/>
          </a:xfrm>
          <a:prstGeom prst="roundRect">
            <a:avLst>
              <a:gd name="adj" fmla="val 12500"/>
            </a:avLst>
          </a:prstGeom>
          <a:solidFill>
            <a:srgbClr val="C4CCD6"/>
          </a:solidFill>
          <a:ln/>
        </p:spPr>
      </p:sp>
      <p:sp>
        <p:nvSpPr>
          <p:cNvPr id="77" name="Text 75"/>
          <p:cNvSpPr/>
          <p:nvPr/>
        </p:nvSpPr>
        <p:spPr>
          <a:xfrm>
            <a:off x="6457950" y="4716512"/>
            <a:ext cx="4921250" cy="401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7"/>
              </a:lnSpc>
              <a:buNone/>
            </a:pPr>
            <a:r>
              <a:rPr lang="en-US" sz="1162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four slots. New requests fill the gaps the moment a slot frees up.</a:t>
            </a:r>
            <a:endParaRPr lang="en-US" sz="1162" dirty="0"/>
          </a:p>
        </p:txBody>
      </p:sp>
      <p:sp>
        <p:nvSpPr>
          <p:cNvPr id="78" name="Text 76"/>
          <p:cNvSpPr/>
          <p:nvPr/>
        </p:nvSpPr>
        <p:spPr>
          <a:xfrm>
            <a:off x="812800" y="5575300"/>
            <a:ext cx="981075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Together with PagedAttention: a freed slot and its freed blocks are both back in play on the very next step.</a:t>
            </a:r>
            <a:endParaRPr lang="en-US" sz="1500" dirty="0"/>
          </a:p>
        </p:txBody>
      </p:sp>
      <p:sp>
        <p:nvSpPr>
          <p:cNvPr id="79" name="Shape 77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80" name="Image 0" descr="PyCon Africa 2026 logo">    </p:cNvPr>
          <p:cNvPicPr>
            <a:picLocks noChangeAspect="1"/>
          </p:cNvPicPr>
          <p:nvPr/>
        </p:nvPicPr>
        <p:blipFill>
          <a:blip r:embed="rId1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81" name="Text 78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82" name="Text 79"/>
          <p:cNvSpPr/>
          <p:nvPr/>
        </p:nvSpPr>
        <p:spPr>
          <a:xfrm>
            <a:off x="111962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· TASK 6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Throughput grows with concurrent users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40186"/>
            <a:ext cx="6953250" cy="380057"/>
          </a:xfrm>
          <a:prstGeom prst="roundRect">
            <a:avLst>
              <a:gd name="adj" fmla="val 19214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2170361"/>
            <a:ext cx="6789039" cy="14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92"/>
              </a:lnSpc>
              <a:buNone/>
            </a:pPr>
            <a:r>
              <a:rPr lang="en-US" sz="780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task_6_multi_user_load.py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812800" y="2575818"/>
            <a:ext cx="7264400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80"/>
              </a:lnSpc>
              <a:buNone/>
            </a:pPr>
            <a:r>
              <a:rPr lang="en-US" sz="914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1, 5, 10 and 20 users each send one request of 50 tokens at the same moment. Aggregate tokens per second, all requests successful.</a:t>
            </a:r>
            <a:endParaRPr lang="en-US" sz="914" dirty="0"/>
          </a:p>
        </p:txBody>
      </p:sp>
      <p:sp>
        <p:nvSpPr>
          <p:cNvPr id="7" name="Text 5"/>
          <p:cNvSpPr/>
          <p:nvPr/>
        </p:nvSpPr>
        <p:spPr>
          <a:xfrm>
            <a:off x="1441529" y="4365228"/>
            <a:ext cx="48244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97.8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38250" y="4700488"/>
            <a:ext cx="889000" cy="571500"/>
          </a:xfrm>
          <a:custGeom>
            <a:avLst/>
            <a:gdLst/>
            <a:ahLst/>
            <a:cxnLst/>
            <a:rect l="l" t="t" r="r" b="b"/>
            <a:pathLst>
              <a:path w="889000" h="571500">
                <a:moveTo>
                  <a:pt x="63500" y="0"/>
                </a:moveTo>
                <a:lnTo>
                  <a:pt x="825500" y="0"/>
                </a:lnTo>
                <a:arcTo hR="63500" wR="63500" stAng="16200000" swAng="5400000"/>
                <a:lnTo>
                  <a:pt x="889000" y="571500"/>
                </a:lnTo>
                <a:lnTo>
                  <a:pt x="0" y="571500"/>
                </a:lnTo>
                <a:lnTo>
                  <a:pt x="0" y="63500"/>
                </a:lnTo>
                <a:arcTo hR="63500" wR="63500" stAng="10800000" swAng="5400000"/>
                <a:close/>
              </a:path>
            </a:pathLst>
          </a:custGeom>
          <a:solidFill>
            <a:srgbClr val="8A93A0"/>
          </a:solidFill>
          <a:ln/>
        </p:spPr>
      </p:sp>
      <p:sp>
        <p:nvSpPr>
          <p:cNvPr id="9" name="Text 7"/>
          <p:cNvSpPr/>
          <p:nvPr/>
        </p:nvSpPr>
        <p:spPr>
          <a:xfrm>
            <a:off x="3119046" y="3215878"/>
            <a:ext cx="60715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295.1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978150" y="3551138"/>
            <a:ext cx="889000" cy="1720850"/>
          </a:xfrm>
          <a:custGeom>
            <a:avLst/>
            <a:gdLst/>
            <a:ahLst/>
            <a:cxnLst/>
            <a:rect l="l" t="t" r="r" b="b"/>
            <a:pathLst>
              <a:path w="889000" h="1720850">
                <a:moveTo>
                  <a:pt x="63500" y="0"/>
                </a:moveTo>
                <a:lnTo>
                  <a:pt x="825500" y="0"/>
                </a:lnTo>
                <a:arcTo hR="63500" wR="63500" stAng="16200000" swAng="5400000"/>
                <a:lnTo>
                  <a:pt x="889000" y="1720850"/>
                </a:lnTo>
                <a:lnTo>
                  <a:pt x="0" y="1720850"/>
                </a:lnTo>
                <a:lnTo>
                  <a:pt x="0" y="63500"/>
                </a:lnTo>
                <a:arcTo hR="63500" wR="63500" stAng="10800000" swAng="5400000"/>
                <a:close/>
              </a:path>
            </a:pathLst>
          </a:custGeom>
          <a:solidFill>
            <a:srgbClr val="DC7828"/>
          </a:solidFill>
          <a:ln/>
        </p:spPr>
      </p:sp>
      <p:sp>
        <p:nvSpPr>
          <p:cNvPr id="11" name="Text 9"/>
          <p:cNvSpPr/>
          <p:nvPr/>
        </p:nvSpPr>
        <p:spPr>
          <a:xfrm>
            <a:off x="4858345" y="2879328"/>
            <a:ext cx="60840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353.1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718050" y="3214588"/>
            <a:ext cx="889000" cy="2057400"/>
          </a:xfrm>
          <a:custGeom>
            <a:avLst/>
            <a:gdLst/>
            <a:ahLst/>
            <a:cxnLst/>
            <a:rect l="l" t="t" r="r" b="b"/>
            <a:pathLst>
              <a:path w="889000" h="2057400">
                <a:moveTo>
                  <a:pt x="63500" y="0"/>
                </a:moveTo>
                <a:lnTo>
                  <a:pt x="825500" y="0"/>
                </a:lnTo>
                <a:arcTo hR="63500" wR="63500" stAng="16200000" swAng="5400000"/>
                <a:lnTo>
                  <a:pt x="889000" y="2057400"/>
                </a:lnTo>
                <a:lnTo>
                  <a:pt x="0" y="2057400"/>
                </a:lnTo>
                <a:lnTo>
                  <a:pt x="0" y="63500"/>
                </a:lnTo>
                <a:arcTo hR="63500" wR="63500" stAng="10800000" swAng="5400000"/>
                <a:close/>
              </a:path>
            </a:pathLst>
          </a:custGeom>
          <a:solidFill>
            <a:srgbClr val="DC7828"/>
          </a:solidFill>
          <a:ln/>
        </p:spPr>
      </p:sp>
      <p:sp>
        <p:nvSpPr>
          <p:cNvPr id="13" name="Text 11"/>
          <p:cNvSpPr/>
          <p:nvPr/>
        </p:nvSpPr>
        <p:spPr>
          <a:xfrm>
            <a:off x="6568366" y="2650728"/>
            <a:ext cx="66811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FAA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392.4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457950" y="2985988"/>
            <a:ext cx="889000" cy="2286000"/>
          </a:xfrm>
          <a:custGeom>
            <a:avLst/>
            <a:gdLst/>
            <a:ahLst/>
            <a:cxnLst/>
            <a:rect l="l" t="t" r="r" b="b"/>
            <a:pathLst>
              <a:path w="889000" h="2286000">
                <a:moveTo>
                  <a:pt x="63500" y="0"/>
                </a:moveTo>
                <a:lnTo>
                  <a:pt x="825500" y="0"/>
                </a:lnTo>
                <a:arcTo hR="63500" wR="63500" stAng="16200000" swAng="5400000"/>
                <a:lnTo>
                  <a:pt x="889000" y="2286000"/>
                </a:lnTo>
                <a:lnTo>
                  <a:pt x="0" y="2286000"/>
                </a:lnTo>
                <a:lnTo>
                  <a:pt x="0" y="63500"/>
                </a:lnTo>
                <a:arcTo hR="63500" wR="63500" stAng="10800000" swAng="5400000"/>
                <a:close/>
              </a:path>
            </a:pathLst>
          </a:custGeom>
          <a:solidFill>
            <a:srgbClr val="FFAA28"/>
          </a:solidFill>
          <a:ln/>
        </p:spPr>
      </p:sp>
      <p:pic>
        <p:nvPicPr>
          <p:cNvPr id="15" name="Image 0" descr="lin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5424388"/>
            <a:ext cx="6959600" cy="127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498803" y="5589488"/>
            <a:ext cx="367844" cy="147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FAF7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user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1349856" y="5737175"/>
            <a:ext cx="665738" cy="1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0.51s latency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3206790" y="5589488"/>
            <a:ext cx="431721" cy="147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FAF7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users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3089756" y="5737175"/>
            <a:ext cx="665738" cy="1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0.84s latency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4908297" y="5589488"/>
            <a:ext cx="508456" cy="147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FAF7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users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4829656" y="5737175"/>
            <a:ext cx="665738" cy="1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1.41s latency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648197" y="5589488"/>
            <a:ext cx="508456" cy="147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176"/>
              </a:lnSpc>
              <a:buNone/>
            </a:pPr>
            <a:r>
              <a:rPr lang="en-US" sz="840" b="1" dirty="0">
                <a:solidFill>
                  <a:srgbClr val="FAF7F1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 users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6569556" y="5737175"/>
            <a:ext cx="665738" cy="130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008"/>
              </a:lnSpc>
              <a:buNone/>
            </a:pPr>
            <a:r>
              <a:rPr lang="en-US" sz="72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2.55s latency</a:t>
            </a:r>
            <a:endParaRPr lang="en-US" sz="720" dirty="0"/>
          </a:p>
        </p:txBody>
      </p:sp>
      <p:sp>
        <p:nvSpPr>
          <p:cNvPr id="24" name="Shape 21"/>
          <p:cNvSpPr/>
          <p:nvPr/>
        </p:nvSpPr>
        <p:spPr>
          <a:xfrm>
            <a:off x="8080375" y="2040186"/>
            <a:ext cx="3295650" cy="1833513"/>
          </a:xfrm>
          <a:prstGeom prst="roundRect">
            <a:avLst>
              <a:gd name="adj" fmla="val 5368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337550" y="2271961"/>
            <a:ext cx="2864739" cy="8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72"/>
              </a:lnSpc>
              <a:buNone/>
            </a:pPr>
            <a:r>
              <a:rPr lang="en-US" sz="6672" b="1" dirty="0">
                <a:solidFill>
                  <a:srgbClr val="FFAA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4.0x</a:t>
            </a:r>
            <a:endParaRPr lang="en-US" sz="6672" dirty="0"/>
          </a:p>
        </p:txBody>
      </p:sp>
      <p:sp>
        <p:nvSpPr>
          <p:cNvPr id="26" name="Text 23"/>
          <p:cNvSpPr/>
          <p:nvPr/>
        </p:nvSpPr>
        <p:spPr>
          <a:xfrm>
            <a:off x="8337550" y="3168452"/>
            <a:ext cx="2864739" cy="498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6"/>
              </a:lnSpc>
              <a:buNone/>
            </a:pPr>
            <a:r>
              <a:rPr lang="en-US" sz="1347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tokens per second at 20 users than at 1, on one CPU</a:t>
            </a:r>
            <a:endParaRPr lang="en-US" sz="1347" dirty="0"/>
          </a:p>
        </p:txBody>
      </p:sp>
      <p:sp>
        <p:nvSpPr>
          <p:cNvPr id="27" name="Shape 24"/>
          <p:cNvSpPr/>
          <p:nvPr/>
        </p:nvSpPr>
        <p:spPr>
          <a:xfrm>
            <a:off x="8089900" y="4080073"/>
            <a:ext cx="0" cy="519609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55000" y="4105473"/>
            <a:ext cx="3217926" cy="4942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Per-request latency rises gently; total work done rises fast.</a:t>
            </a:r>
            <a:endParaRPr lang="en-US" sz="1330" dirty="0"/>
          </a:p>
        </p:txBody>
      </p:sp>
      <p:sp>
        <p:nvSpPr>
          <p:cNvPr id="29" name="Shape 26"/>
          <p:cNvSpPr/>
          <p:nvPr/>
        </p:nvSpPr>
        <p:spPr>
          <a:xfrm>
            <a:off x="8089900" y="4701282"/>
            <a:ext cx="0" cy="519559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255000" y="4726682"/>
            <a:ext cx="3217926" cy="494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queue code written. The engine batches on its own.</a:t>
            </a:r>
            <a:endParaRPr lang="en-US" sz="1330" dirty="0"/>
          </a:p>
        </p:txBody>
      </p:sp>
      <p:sp>
        <p:nvSpPr>
          <p:cNvPr id="31" name="Shape 28"/>
          <p:cNvSpPr/>
          <p:nvPr/>
        </p:nvSpPr>
        <p:spPr>
          <a:xfrm>
            <a:off x="8089900" y="5322441"/>
            <a:ext cx="0" cy="519559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255000" y="5347841"/>
            <a:ext cx="3217926" cy="4941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62"/>
              </a:lnSpc>
              <a:buNone/>
            </a:pPr>
            <a:r>
              <a:rPr lang="en-US" sz="133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is the core value of vLLM: many users per device.</a:t>
            </a:r>
            <a:endParaRPr lang="en-US" sz="1330" dirty="0"/>
          </a:p>
        </p:txBody>
      </p:sp>
      <p:sp>
        <p:nvSpPr>
          <p:cNvPr id="33" name="Shape 30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34" name="Image 1" descr="PyCon Africa 2026 logo">    </p:cNvPr>
          <p:cNvPicPr>
            <a:picLocks noChangeAspect="1"/>
          </p:cNvPicPr>
          <p:nvPr/>
        </p:nvPicPr>
        <p:blipFill>
          <a:blip r:embed="rId2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36" name="Text 32"/>
          <p:cNvSpPr/>
          <p:nvPr/>
        </p:nvSpPr>
        <p:spPr>
          <a:xfrm>
            <a:off x="111962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· TASK 7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80120"/>
            <a:ext cx="1088339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Tuning the knobs for your workload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5975" y="2040186"/>
            <a:ext cx="6191250" cy="491480"/>
          </a:xfrm>
          <a:prstGeom prst="roundRect">
            <a:avLst>
              <a:gd name="adj" fmla="val 14858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  <p:txBody>
          <a:bodyPr wrap="square" lIns="159587" tIns="108787" rIns="0" bIns="83387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task_7_tuning.py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2712641"/>
            <a:ext cx="638352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Three server configurations, each benchmarked with 10 concurrent requests of 50 tokens.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3388221"/>
            <a:ext cx="6197600" cy="1811982"/>
          </a:xfrm>
          <a:custGeom>
            <a:avLst/>
            <a:gdLst/>
            <a:ahLst/>
            <a:cxnLst/>
            <a:rect l="l" t="t" r="r" b="b"/>
            <a:pathLst>
              <a:path w="6197600" h="1811982">
                <a:moveTo>
                  <a:pt x="6121400" y="0"/>
                </a:moveTo>
                <a:lnTo>
                  <a:pt x="6121400" y="0"/>
                </a:lnTo>
                <a:arcTo hR="76200" wR="76200" stAng="16200000" swAng="5400000"/>
                <a:lnTo>
                  <a:pt x="6197600" y="1735782"/>
                </a:lnTo>
                <a:arcTo hR="76200" wR="76200" stAng="0" swAng="5400000"/>
                <a:lnTo>
                  <a:pt x="76200" y="1811982"/>
                </a:lnTo>
                <a:arcTo hR="76200" wR="76200" stAng="5400000" swAng="5400000"/>
                <a:lnTo>
                  <a:pt x="0" y="1735782"/>
                </a:lnTo>
                <a:arcTo hR="69850" wR="76200" stAng="10800000" swAng="-5400000"/>
                <a:lnTo>
                  <a:pt x="6121400" y="1805632"/>
                </a:lnTo>
                <a:arcTo hR="69850" wR="69850" stAng="5400000" swAng="-5400000"/>
                <a:lnTo>
                  <a:pt x="6191250" y="76200"/>
                </a:lnTo>
                <a:arcTo hR="76200" wR="69850" stAng="0" swAng="-5400000"/>
                <a:close/>
              </a:path>
            </a:pathLst>
          </a:custGeom>
          <a:solidFill>
            <a:srgbClr val="2A3642"/>
          </a:solidFill>
          <a:ln/>
        </p:spPr>
      </p:sp>
      <p:sp>
        <p:nvSpPr>
          <p:cNvPr id="7" name="Shape 5"/>
          <p:cNvSpPr/>
          <p:nvPr/>
        </p:nvSpPr>
        <p:spPr>
          <a:xfrm>
            <a:off x="812800" y="3388221"/>
            <a:ext cx="6197600" cy="1811982"/>
          </a:xfrm>
          <a:custGeom>
            <a:avLst/>
            <a:gdLst/>
            <a:ahLst/>
            <a:cxnLst/>
            <a:rect l="l" t="t" r="r" b="b"/>
            <a:pathLst>
              <a:path w="6197600" h="1811982">
                <a:moveTo>
                  <a:pt x="76200" y="1811982"/>
                </a:moveTo>
                <a:lnTo>
                  <a:pt x="76200" y="1811982"/>
                </a:lnTo>
                <a:arcTo hR="76200" wR="76200" stAng="5400000" swAng="5400000"/>
                <a:lnTo>
                  <a:pt x="0" y="76200"/>
                </a:lnTo>
                <a:arcTo hR="76200" wR="76200" stAng="10800000" swAng="5400000"/>
                <a:lnTo>
                  <a:pt x="6121400" y="0"/>
                </a:lnTo>
                <a:arcTo hR="76200" wR="76200" stAng="16200000" swAng="5400000"/>
                <a:lnTo>
                  <a:pt x="6197600" y="76200"/>
                </a:lnTo>
                <a:arcTo hR="63500" wR="76200" stAng="0" swAng="-5400000"/>
                <a:lnTo>
                  <a:pt x="76200" y="12700"/>
                </a:lnTo>
                <a:arcTo hR="63500" wR="63500" stAng="16200000" swAng="-5400000"/>
                <a:lnTo>
                  <a:pt x="12700" y="1735782"/>
                </a:lnTo>
                <a:arcTo hR="76200" wR="63500" stAng="10800000" swAng="-5400000"/>
                <a:close/>
              </a:path>
            </a:pathLst>
          </a:custGeom>
          <a:solidFill>
            <a:srgbClr val="FAF9F5">
              <a:alpha val="22000"/>
            </a:srgbClr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400921"/>
          <a:ext cx="6178550" cy="1792932"/>
        </p:xfrm>
        <a:graphic>
          <a:graphicData uri="http://schemas.openxmlformats.org/drawingml/2006/table">
            <a:tbl>
              <a:tblPr/>
              <a:tblGrid>
                <a:gridCol w="2100707"/>
                <a:gridCol w="1359281"/>
                <a:gridCol w="1359281"/>
                <a:gridCol w="1359281"/>
              </a:tblGrid>
              <a:tr h="63490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AA2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Config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AA2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max_model_len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AA2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max_num_seqs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AA2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Throughput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22"/>
                    </a:solidFill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A: Default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128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316.6 tok/s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54B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B: Shorter context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256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AA2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323.9 tok/s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6011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C: Limited concurrency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64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8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8EDF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279.9 tok/s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D545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812800" y="5378004"/>
            <a:ext cx="6383528" cy="48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Config C has the lowest latency per request (1.38s) but the lowest total throughput. There is no single best setting.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318375" y="2040186"/>
            <a:ext cx="4057650" cy="982861"/>
          </a:xfrm>
          <a:prstGeom prst="roundRect">
            <a:avLst>
              <a:gd name="adj" fmla="val 10014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524750" y="2221161"/>
            <a:ext cx="3754247" cy="224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4"/>
              </a:lnSpc>
              <a:buNone/>
            </a:pPr>
            <a:r>
              <a:rPr lang="en-US" sz="1124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--max-model-len</a:t>
            </a:r>
            <a:endParaRPr lang="en-US" sz="1124" dirty="0"/>
          </a:p>
        </p:txBody>
      </p:sp>
      <p:sp>
        <p:nvSpPr>
          <p:cNvPr id="12" name="Text 9"/>
          <p:cNvSpPr/>
          <p:nvPr/>
        </p:nvSpPr>
        <p:spPr>
          <a:xfrm>
            <a:off x="7524750" y="2471440"/>
            <a:ext cx="3754247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62"/>
              </a:lnSpc>
              <a:buNone/>
            </a:pPr>
            <a:r>
              <a:rPr lang="en-US" sz="1044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Longest context per request. Lower means less KV cache per user, so more users fit.</a:t>
            </a:r>
            <a:endParaRPr lang="en-US" sz="1044" dirty="0"/>
          </a:p>
        </p:txBody>
      </p:sp>
      <p:sp>
        <p:nvSpPr>
          <p:cNvPr id="13" name="Shape 10"/>
          <p:cNvSpPr/>
          <p:nvPr/>
        </p:nvSpPr>
        <p:spPr>
          <a:xfrm>
            <a:off x="7318375" y="3156396"/>
            <a:ext cx="4057650" cy="982811"/>
          </a:xfrm>
          <a:prstGeom prst="roundRect">
            <a:avLst>
              <a:gd name="adj" fmla="val 10015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524750" y="3337371"/>
            <a:ext cx="3754247" cy="224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4"/>
              </a:lnSpc>
              <a:buNone/>
            </a:pPr>
            <a:r>
              <a:rPr lang="en-US" sz="1124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--max-num-seqs</a:t>
            </a:r>
            <a:endParaRPr lang="en-US" sz="1124" dirty="0"/>
          </a:p>
        </p:txBody>
      </p:sp>
      <p:sp>
        <p:nvSpPr>
          <p:cNvPr id="15" name="Text 12"/>
          <p:cNvSpPr/>
          <p:nvPr/>
        </p:nvSpPr>
        <p:spPr>
          <a:xfrm>
            <a:off x="7524750" y="3587651"/>
            <a:ext cx="3754247" cy="3959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62"/>
              </a:lnSpc>
              <a:buNone/>
            </a:pPr>
            <a:r>
              <a:rPr lang="en-US" sz="1044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many sequences run in one batch. Trades per-request latency for total throughput.</a:t>
            </a:r>
            <a:endParaRPr lang="en-US" sz="1044" dirty="0"/>
          </a:p>
        </p:txBody>
      </p:sp>
      <p:sp>
        <p:nvSpPr>
          <p:cNvPr id="16" name="Shape 13"/>
          <p:cNvSpPr/>
          <p:nvPr/>
        </p:nvSpPr>
        <p:spPr>
          <a:xfrm>
            <a:off x="7318375" y="4272558"/>
            <a:ext cx="4057650" cy="982861"/>
          </a:xfrm>
          <a:prstGeom prst="roundRect">
            <a:avLst>
              <a:gd name="adj" fmla="val 10014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524750" y="4453533"/>
            <a:ext cx="3754247" cy="2248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74"/>
              </a:lnSpc>
              <a:buNone/>
            </a:pPr>
            <a:r>
              <a:rPr lang="en-US" sz="1124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--gpu-memory-utilization</a:t>
            </a:r>
            <a:endParaRPr lang="en-US" sz="1124" dirty="0"/>
          </a:p>
        </p:txBody>
      </p:sp>
      <p:sp>
        <p:nvSpPr>
          <p:cNvPr id="18" name="Text 15"/>
          <p:cNvSpPr/>
          <p:nvPr/>
        </p:nvSpPr>
        <p:spPr>
          <a:xfrm>
            <a:off x="7524750" y="4703812"/>
            <a:ext cx="3754247" cy="39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62"/>
              </a:lnSpc>
              <a:buNone/>
            </a:pPr>
            <a:r>
              <a:rPr lang="en-US" sz="1044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 of GPU memory vLLM may claim for weights plus KV cache blocks.</a:t>
            </a:r>
            <a:endParaRPr lang="en-US" sz="1044" dirty="0"/>
          </a:p>
        </p:txBody>
      </p:sp>
      <p:sp>
        <p:nvSpPr>
          <p:cNvPr id="19" name="Shape 16"/>
          <p:cNvSpPr/>
          <p:nvPr/>
        </p:nvSpPr>
        <p:spPr>
          <a:xfrm>
            <a:off x="7327900" y="5385594"/>
            <a:ext cx="0" cy="456406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93000" y="5410994"/>
            <a:ext cx="4002786" cy="431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1"/>
              </a:lnSpc>
              <a:buNone/>
            </a:pPr>
            <a:r>
              <a:rPr lang="en-US" sz="1151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Measure with your own prompts and traffic shape before you pick.</a:t>
            </a:r>
            <a:endParaRPr lang="en-US" sz="1151" dirty="0"/>
          </a:p>
        </p:txBody>
      </p:sp>
      <p:sp>
        <p:nvSpPr>
          <p:cNvPr id="21" name="Shape 18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22" name="Image 0" descr="PyCon Africa 2026 logo">    </p:cNvPr>
          <p:cNvPicPr>
            <a:picLocks noChangeAspect="1"/>
          </p:cNvPicPr>
          <p:nvPr/>
        </p:nvPicPr>
        <p:blipFill>
          <a:blip r:embed="rId1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111962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· TASK 8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1379200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monitoring dashboard for the running server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5411"/>
            <a:ext cx="7493000" cy="1880443"/>
          </a:xfrm>
          <a:prstGeom prst="roundRect">
            <a:avLst>
              <a:gd name="adj" fmla="val 4052"/>
            </a:avLst>
          </a:prstGeom>
          <a:solidFill>
            <a:srgbClr val="0D1117"/>
          </a:solidFill>
          <a:ln/>
        </p:spPr>
      </p:sp>
      <p:pic>
        <p:nvPicPr>
          <p:cNvPr id="5" name="Image 0" descr="Dashboard panel: HuggingFace vs vLLM single-request throughput, 67.1 versus 87.9 tokens per seco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711" y="1941761"/>
            <a:ext cx="7301179" cy="1867743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1938586"/>
            <a:ext cx="7486650" cy="1874093"/>
          </a:xfrm>
          <a:prstGeom prst="roundRect">
            <a:avLst>
              <a:gd name="adj" fmla="val 3897"/>
            </a:avLst>
          </a:prstGeom>
          <a:noFill/>
          <a:ln w="6350">
            <a:solidFill>
              <a:srgbClr val="2A364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800" y="3942854"/>
            <a:ext cx="7493000" cy="1899146"/>
          </a:xfrm>
          <a:prstGeom prst="roundRect">
            <a:avLst>
              <a:gd name="adj" fmla="val 4012"/>
            </a:avLst>
          </a:prstGeom>
          <a:solidFill>
            <a:srgbClr val="0D1117"/>
          </a:solidFill>
          <a:ln/>
        </p:spPr>
      </p:sp>
      <p:pic>
        <p:nvPicPr>
          <p:cNvPr id="8" name="Image 1" descr="Dashboard panel: throughput by concurrent users, rising from 97.8 to 392.4 tokens per seco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584" y="3949204"/>
            <a:ext cx="7291432" cy="188644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5975" y="3946029"/>
            <a:ext cx="7486650" cy="1892796"/>
          </a:xfrm>
          <a:prstGeom prst="roundRect">
            <a:avLst>
              <a:gd name="adj" fmla="val 3858"/>
            </a:avLst>
          </a:prstGeom>
          <a:noFill/>
          <a:ln w="6350">
            <a:solidFill>
              <a:srgbClr val="2A364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588375" y="1938586"/>
            <a:ext cx="2787650" cy="418703"/>
          </a:xfrm>
          <a:prstGeom prst="roundRect">
            <a:avLst>
              <a:gd name="adj" fmla="val 17441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743950" y="2043361"/>
            <a:ext cx="2550795" cy="234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python task_8_dashboard.py</a:t>
            </a:r>
            <a:endParaRPr lang="en-US" sz="1196" dirty="0"/>
          </a:p>
        </p:txBody>
      </p:sp>
      <p:sp>
        <p:nvSpPr>
          <p:cNvPr id="12" name="Text 8"/>
          <p:cNvSpPr/>
          <p:nvPr/>
        </p:nvSpPr>
        <p:spPr>
          <a:xfrm>
            <a:off x="8585200" y="2512864"/>
            <a:ext cx="2877820" cy="70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28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Gradio app on port 7860 that reads the results every task wrote and polls the live server.</a:t>
            </a:r>
            <a:endParaRPr lang="en-US" sz="1280" dirty="0"/>
          </a:p>
        </p:txBody>
      </p:sp>
      <p:sp>
        <p:nvSpPr>
          <p:cNvPr id="13" name="Shape 9"/>
          <p:cNvSpPr/>
          <p:nvPr/>
        </p:nvSpPr>
        <p:spPr>
          <a:xfrm>
            <a:off x="8597900" y="3345160"/>
            <a:ext cx="0" cy="730647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737600" y="3370560"/>
            <a:ext cx="2720848" cy="7052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280" b="1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 panel:</a:t>
            </a:r>
            <a:r>
              <a:rPr lang="en-US" sz="128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same model served two ways. The gap is the engine, not the weights.</a:t>
            </a:r>
            <a:endParaRPr lang="en-US" sz="1280" dirty="0"/>
          </a:p>
        </p:txBody>
      </p:sp>
      <p:sp>
        <p:nvSpPr>
          <p:cNvPr id="15" name="Shape 11"/>
          <p:cNvSpPr/>
          <p:nvPr/>
        </p:nvSpPr>
        <p:spPr>
          <a:xfrm>
            <a:off x="8597900" y="4228207"/>
            <a:ext cx="0" cy="730696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737600" y="4253607"/>
            <a:ext cx="2720848" cy="70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280" b="1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Bottom panel:</a:t>
            </a:r>
            <a:r>
              <a:rPr lang="en-US" sz="128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continuous batching at work. Throughput climbs as users arrive.</a:t>
            </a:r>
            <a:endParaRPr lang="en-US" sz="1280" dirty="0"/>
          </a:p>
        </p:txBody>
      </p:sp>
      <p:sp>
        <p:nvSpPr>
          <p:cNvPr id="17" name="Shape 13"/>
          <p:cNvSpPr/>
          <p:nvPr/>
        </p:nvSpPr>
        <p:spPr>
          <a:xfrm>
            <a:off x="8597900" y="5111304"/>
            <a:ext cx="0" cy="730696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8737600" y="5136704"/>
            <a:ext cx="2720848" cy="7052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92"/>
              </a:lnSpc>
              <a:buNone/>
            </a:pPr>
            <a:r>
              <a:rPr lang="en-US" sz="1280" b="1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row:</a:t>
            </a:r>
            <a:r>
              <a:rPr lang="en-US" sz="128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 refresh button sends a real request and reports tokens per second and latency now.</a:t>
            </a:r>
            <a:endParaRPr lang="en-US" sz="1280" dirty="0"/>
          </a:p>
        </p:txBody>
      </p:sp>
      <p:sp>
        <p:nvSpPr>
          <p:cNvPr id="19" name="Shape 15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20" name="Image 2" descr="PyCon Africa 2026 logo">    </p:cNvPr>
          <p:cNvPicPr>
            <a:picLocks noChangeAspect="1"/>
          </p:cNvPicPr>
          <p:nvPr/>
        </p:nvPicPr>
        <p:blipFill>
          <a:blip r:embed="rId3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111962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DEMO · TASK 8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29320"/>
            <a:ext cx="10883392" cy="1031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What production monitoring should always show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2438301"/>
            <a:ext cx="7493000" cy="1323727"/>
          </a:xfrm>
          <a:prstGeom prst="roundRect">
            <a:avLst>
              <a:gd name="adj" fmla="val 5756"/>
            </a:avLst>
          </a:prstGeom>
          <a:solidFill>
            <a:srgbClr val="0D1117"/>
          </a:solidFill>
          <a:ln/>
        </p:spPr>
      </p:sp>
      <p:pic>
        <p:nvPicPr>
          <p:cNvPr id="5" name="Image 0" descr="Dashboard panel: throughput by configuration, 316.6, 323.9 and 279.9 tokens per second for configs A, B and 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6838" y="2444651"/>
            <a:ext cx="5124924" cy="131102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2441476"/>
            <a:ext cx="7486650" cy="1317377"/>
          </a:xfrm>
          <a:prstGeom prst="roundRect">
            <a:avLst>
              <a:gd name="adj" fmla="val 5543"/>
            </a:avLst>
          </a:prstGeom>
          <a:noFill/>
          <a:ln w="6350">
            <a:solidFill>
              <a:srgbClr val="2A364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2800" y="3889028"/>
            <a:ext cx="7493000" cy="1952972"/>
          </a:xfrm>
          <a:prstGeom prst="roundRect">
            <a:avLst>
              <a:gd name="adj" fmla="val 3902"/>
            </a:avLst>
          </a:prstGeom>
          <a:solidFill>
            <a:srgbClr val="0D1117"/>
          </a:solidFill>
          <a:ln/>
        </p:spPr>
      </p:sp>
      <p:pic>
        <p:nvPicPr>
          <p:cNvPr id="8" name="Image 1" descr="Dashboard panel: lab journey summary table of the eight tasks and their key results, with five key takeaway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2171" y="3895378"/>
            <a:ext cx="5134259" cy="194027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815975" y="3892203"/>
            <a:ext cx="7486650" cy="1946622"/>
          </a:xfrm>
          <a:prstGeom prst="roundRect">
            <a:avLst>
              <a:gd name="adj" fmla="val 3751"/>
            </a:avLst>
          </a:prstGeom>
          <a:noFill/>
          <a:ln w="6350">
            <a:solidFill>
              <a:srgbClr val="2A364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8597900" y="2438301"/>
            <a:ext cx="0" cy="501948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8737600" y="2463701"/>
            <a:ext cx="2720848" cy="476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35"/>
              </a:lnSpc>
              <a:buNone/>
            </a:pPr>
            <a:r>
              <a:rPr lang="en-US" sz="1239" b="1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Tuning panel:</a:t>
            </a:r>
            <a:r>
              <a:rPr lang="en-US" sz="1239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every configuration change, benchmarked before it ships.</a:t>
            </a:r>
            <a:endParaRPr lang="en-US" sz="1239" dirty="0"/>
          </a:p>
        </p:txBody>
      </p:sp>
      <p:sp>
        <p:nvSpPr>
          <p:cNvPr id="12" name="Shape 8"/>
          <p:cNvSpPr/>
          <p:nvPr/>
        </p:nvSpPr>
        <p:spPr>
          <a:xfrm>
            <a:off x="8597900" y="3092648"/>
            <a:ext cx="0" cy="351582"/>
          </a:xfrm>
          <a:prstGeom prst="line">
            <a:avLst/>
          </a:prstGeom>
          <a:noFill/>
          <a:ln w="25400">
            <a:solidFill>
              <a:srgbClr val="FFAA28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737600" y="3118048"/>
            <a:ext cx="2720848" cy="326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83"/>
              </a:lnSpc>
              <a:buNone/>
            </a:pPr>
            <a:r>
              <a:rPr lang="en-US" sz="845" b="1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Journey table:</a:t>
            </a:r>
            <a:r>
              <a:rPr lang="en-US" sz="845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the eight tasks and their key results in one place.</a:t>
            </a:r>
            <a:endParaRPr lang="en-US" sz="845" dirty="0"/>
          </a:p>
        </p:txBody>
      </p:sp>
      <p:sp>
        <p:nvSpPr>
          <p:cNvPr id="14" name="Text 10"/>
          <p:cNvSpPr/>
          <p:nvPr/>
        </p:nvSpPr>
        <p:spPr>
          <a:xfrm>
            <a:off x="8585200" y="3596630"/>
            <a:ext cx="3352800" cy="326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4"/>
              </a:lnSpc>
              <a:buNone/>
            </a:pPr>
            <a:r>
              <a:rPr lang="en-US" sz="91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numbers to keep on a screen for any LLM service:</a:t>
            </a:r>
            <a:endParaRPr lang="en-US" sz="910" dirty="0"/>
          </a:p>
        </p:txBody>
      </p:sp>
      <p:sp>
        <p:nvSpPr>
          <p:cNvPr id="15" name="Shape 11"/>
          <p:cNvSpPr/>
          <p:nvPr/>
        </p:nvSpPr>
        <p:spPr>
          <a:xfrm>
            <a:off x="8588375" y="4052987"/>
            <a:ext cx="2787650" cy="697855"/>
          </a:xfrm>
          <a:prstGeom prst="roundRect">
            <a:avLst>
              <a:gd name="adj" fmla="val 14104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769350" y="4208562"/>
            <a:ext cx="2498471" cy="251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AA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Tokens per second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769350" y="4459784"/>
            <a:ext cx="2498471" cy="160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071"/>
              </a:lnSpc>
              <a:buNone/>
            </a:pPr>
            <a:r>
              <a:rPr lang="en-US" sz="765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much work the GPU is doing</a:t>
            </a:r>
            <a:endParaRPr lang="en-US" sz="765" dirty="0"/>
          </a:p>
        </p:txBody>
      </p:sp>
      <p:sp>
        <p:nvSpPr>
          <p:cNvPr id="18" name="Shape 14"/>
          <p:cNvSpPr/>
          <p:nvPr/>
        </p:nvSpPr>
        <p:spPr>
          <a:xfrm>
            <a:off x="8588375" y="4909592"/>
            <a:ext cx="2787650" cy="929233"/>
          </a:xfrm>
          <a:prstGeom prst="roundRect">
            <a:avLst>
              <a:gd name="adj" fmla="val 10592"/>
            </a:avLst>
          </a:prstGeom>
          <a:solidFill>
            <a:srgbClr val="121A22"/>
          </a:solidFill>
          <a:ln w="6350">
            <a:solidFill>
              <a:srgbClr val="2A364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769350" y="5065167"/>
            <a:ext cx="2603500" cy="4813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21"/>
              </a:lnSpc>
              <a:buNone/>
            </a:pPr>
            <a:r>
              <a:rPr lang="en-US" sz="1944" b="1" dirty="0">
                <a:solidFill>
                  <a:srgbClr val="FFAA2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Latency per request</a:t>
            </a:r>
            <a:endParaRPr lang="en-US" sz="1944" dirty="0"/>
          </a:p>
        </p:txBody>
      </p:sp>
      <p:sp>
        <p:nvSpPr>
          <p:cNvPr id="20" name="Text 16"/>
          <p:cNvSpPr/>
          <p:nvPr/>
        </p:nvSpPr>
        <p:spPr>
          <a:xfrm>
            <a:off x="8769350" y="5546477"/>
            <a:ext cx="2498471" cy="1621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123"/>
              </a:lnSpc>
              <a:buNone/>
            </a:pPr>
            <a:r>
              <a:rPr lang="en-US" sz="802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each user actually feels</a:t>
            </a:r>
            <a:endParaRPr lang="en-US" sz="802" dirty="0"/>
          </a:p>
        </p:txBody>
      </p:sp>
      <p:sp>
        <p:nvSpPr>
          <p:cNvPr id="21" name="Shape 17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22" name="Image 2" descr="PyCon Africa 2026 logo">    </p:cNvPr>
          <p:cNvPicPr>
            <a:picLocks noChangeAspect="1"/>
          </p:cNvPicPr>
          <p:nvPr/>
        </p:nvPicPr>
        <p:blipFill>
          <a:blip r:embed="rId3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111962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03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423"/>
              </a:lnSpc>
              <a:buNone/>
            </a:pPr>
            <a:r>
              <a:rPr lang="en-US" sz="1016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RECAP</a:t>
            </a:r>
            <a:endParaRPr lang="en-US" sz="101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244997"/>
            <a:ext cx="10883392" cy="4453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17"/>
              </a:lnSpc>
              <a:buNone/>
            </a:pPr>
            <a:r>
              <a:rPr lang="en-US" sz="3015" b="1" i="0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Why teams reach for vLLM</a:t>
            </a:r>
            <a:endParaRPr lang="en-US" sz="3015" dirty="0"/>
          </a:p>
        </p:txBody>
      </p:sp>
      <p:sp>
        <p:nvSpPr>
          <p:cNvPr id="4" name="Shape 2"/>
          <p:cNvSpPr/>
          <p:nvPr/>
        </p:nvSpPr>
        <p:spPr>
          <a:xfrm>
            <a:off x="812800" y="1918990"/>
            <a:ext cx="2527300" cy="1709986"/>
          </a:xfrm>
          <a:prstGeom prst="roundRect">
            <a:avLst>
              <a:gd name="adj" fmla="val 7427"/>
            </a:avLst>
          </a:prstGeom>
          <a:solidFill>
            <a:srgbClr val="1C2530"/>
          </a:solidFill>
          <a:ln/>
        </p:spPr>
      </p:sp>
      <p:pic>
        <p:nvPicPr>
          <p:cNvPr id="5" name="Image 0" descr="Lightning">    </p:cNvPr>
          <p:cNvPicPr>
            <a:picLocks noChangeAspect="1"/>
          </p:cNvPicPr>
          <p:nvPr/>
        </p:nvPicPr>
        <p:blipFill>
          <a:blip r:embed="rId1"/>
          <a:srcRect l="-53" r="-53" t="0" b="0"/>
          <a:stretch/>
        </p:blipFill>
        <p:spPr>
          <a:xfrm>
            <a:off x="1016000" y="2122190"/>
            <a:ext cx="304800" cy="27910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16000" y="2477492"/>
            <a:ext cx="2184527" cy="262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4"/>
              </a:lnSpc>
              <a:buNone/>
            </a:pPr>
            <a:r>
              <a:rPr lang="en-US" sz="1562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Higher throughput</a:t>
            </a:r>
            <a:endParaRPr lang="en-US" sz="1562" dirty="0"/>
          </a:p>
        </p:txBody>
      </p:sp>
      <p:sp>
        <p:nvSpPr>
          <p:cNvPr id="7" name="Text 4"/>
          <p:cNvSpPr/>
          <p:nvPr/>
        </p:nvSpPr>
        <p:spPr>
          <a:xfrm>
            <a:off x="1016000" y="2790924"/>
            <a:ext cx="2184527" cy="660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2"/>
              </a:lnSpc>
              <a:buNone/>
            </a:pPr>
            <a:r>
              <a:rPr lang="en-US" sz="1194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4x more tokens per second at 20 users in our demo, far more on a real GPU.</a:t>
            </a:r>
            <a:endParaRPr lang="en-US" sz="1194" dirty="0"/>
          </a:p>
        </p:txBody>
      </p:sp>
      <p:sp>
        <p:nvSpPr>
          <p:cNvPr id="8" name="Shape 5"/>
          <p:cNvSpPr/>
          <p:nvPr/>
        </p:nvSpPr>
        <p:spPr>
          <a:xfrm>
            <a:off x="3492500" y="1918990"/>
            <a:ext cx="2527300" cy="1709986"/>
          </a:xfrm>
          <a:prstGeom prst="roundRect">
            <a:avLst>
              <a:gd name="adj" fmla="val 7427"/>
            </a:avLst>
          </a:prstGeom>
          <a:solidFill>
            <a:srgbClr val="1C2530"/>
          </a:solidFill>
          <a:ln/>
        </p:spPr>
      </p:sp>
      <p:pic>
        <p:nvPicPr>
          <p:cNvPr id="9" name="Image 1" descr="Database">    </p:cNvPr>
          <p:cNvPicPr>
            <a:picLocks noChangeAspect="1"/>
          </p:cNvPicPr>
          <p:nvPr/>
        </p:nvPicPr>
        <p:blipFill>
          <a:blip r:embed="rId2"/>
          <a:srcRect l="0" r="0" t="-169" b="-169"/>
          <a:stretch/>
        </p:blipFill>
        <p:spPr>
          <a:xfrm>
            <a:off x="3695700" y="2122190"/>
            <a:ext cx="304800" cy="235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95700" y="2434134"/>
            <a:ext cx="2184527" cy="225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19"/>
              </a:lnSpc>
              <a:buNone/>
            </a:pPr>
            <a:r>
              <a:rPr lang="en-US" sz="1349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Better GPU use</a:t>
            </a:r>
            <a:endParaRPr lang="en-US" sz="1349" dirty="0"/>
          </a:p>
        </p:txBody>
      </p:sp>
      <p:sp>
        <p:nvSpPr>
          <p:cNvPr id="11" name="Text 7"/>
          <p:cNvSpPr/>
          <p:nvPr/>
        </p:nvSpPr>
        <p:spPr>
          <a:xfrm>
            <a:off x="3695700" y="2710706"/>
            <a:ext cx="2184527" cy="7404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2"/>
              </a:lnSpc>
              <a:buNone/>
            </a:pPr>
            <a:r>
              <a:rPr lang="en-US" sz="1194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KV cache utilization from about 20% to about 95%. Memory and compute both stay busy.</a:t>
            </a:r>
            <a:endParaRPr lang="en-US" sz="1194" dirty="0"/>
          </a:p>
        </p:txBody>
      </p:sp>
      <p:sp>
        <p:nvSpPr>
          <p:cNvPr id="12" name="Shape 8"/>
          <p:cNvSpPr/>
          <p:nvPr/>
        </p:nvSpPr>
        <p:spPr>
          <a:xfrm>
            <a:off x="6172200" y="1918990"/>
            <a:ext cx="2527300" cy="1709986"/>
          </a:xfrm>
          <a:prstGeom prst="roundRect">
            <a:avLst>
              <a:gd name="adj" fmla="val 7427"/>
            </a:avLst>
          </a:prstGeom>
          <a:solidFill>
            <a:srgbClr val="1C2530"/>
          </a:solidFill>
          <a:ln/>
        </p:spPr>
      </p:sp>
      <p:pic>
        <p:nvPicPr>
          <p:cNvPr id="13" name="Image 2" descr="Char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75400" y="2122190"/>
            <a:ext cx="304800" cy="2730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375400" y="2471440"/>
            <a:ext cx="2184527" cy="489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36"/>
              </a:lnSpc>
              <a:buNone/>
            </a:pPr>
            <a:r>
              <a:rPr lang="en-US" sz="1530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Lower cost per request</a:t>
            </a:r>
            <a:endParaRPr lang="en-US" sz="1530" dirty="0"/>
          </a:p>
        </p:txBody>
      </p:sp>
      <p:sp>
        <p:nvSpPr>
          <p:cNvPr id="15" name="Text 10"/>
          <p:cNvSpPr/>
          <p:nvPr/>
        </p:nvSpPr>
        <p:spPr>
          <a:xfrm>
            <a:off x="6375400" y="3011736"/>
            <a:ext cx="2184527" cy="439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32"/>
              </a:lnSpc>
              <a:buNone/>
            </a:pPr>
            <a:r>
              <a:rPr lang="en-US" sz="1166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More users per GPU is fewer GPUs for the same traffic.</a:t>
            </a:r>
            <a:endParaRPr lang="en-US" sz="1166" dirty="0"/>
          </a:p>
        </p:txBody>
      </p:sp>
      <p:sp>
        <p:nvSpPr>
          <p:cNvPr id="16" name="Shape 11"/>
          <p:cNvSpPr/>
          <p:nvPr/>
        </p:nvSpPr>
        <p:spPr>
          <a:xfrm>
            <a:off x="8851900" y="1918990"/>
            <a:ext cx="2527300" cy="1709986"/>
          </a:xfrm>
          <a:prstGeom prst="roundRect">
            <a:avLst>
              <a:gd name="adj" fmla="val 7427"/>
            </a:avLst>
          </a:prstGeom>
          <a:solidFill>
            <a:srgbClr val="1C2530"/>
          </a:solidFill>
          <a:ln/>
        </p:spPr>
      </p:sp>
      <p:pic>
        <p:nvPicPr>
          <p:cNvPr id="17" name="Image 3" descr="Link">    </p:cNvPr>
          <p:cNvPicPr>
            <a:picLocks noChangeAspect="1"/>
          </p:cNvPicPr>
          <p:nvPr/>
        </p:nvPicPr>
        <p:blipFill>
          <a:blip r:embed="rId4"/>
          <a:srcRect l="-53" r="-53" t="0" b="0"/>
          <a:stretch/>
        </p:blipFill>
        <p:spPr>
          <a:xfrm>
            <a:off x="9055100" y="2122190"/>
            <a:ext cx="304800" cy="27910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055100" y="2477492"/>
            <a:ext cx="2184527" cy="262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74"/>
              </a:lnSpc>
              <a:buNone/>
            </a:pPr>
            <a:r>
              <a:rPr lang="en-US" sz="1562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Drop-in API</a:t>
            </a:r>
            <a:endParaRPr lang="en-US" sz="1562" dirty="0"/>
          </a:p>
        </p:txBody>
      </p:sp>
      <p:sp>
        <p:nvSpPr>
          <p:cNvPr id="19" name="Text 13"/>
          <p:cNvSpPr/>
          <p:nvPr/>
        </p:nvSpPr>
        <p:spPr>
          <a:xfrm>
            <a:off x="9055100" y="2790924"/>
            <a:ext cx="2184527" cy="6602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18"/>
              </a:lnSpc>
              <a:buNone/>
            </a:pPr>
            <a:r>
              <a:rPr lang="en-US" sz="1227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OpenAI-compatible endpoints mean no application rewrite.</a:t>
            </a:r>
            <a:endParaRPr lang="en-US" sz="1227" dirty="0"/>
          </a:p>
        </p:txBody>
      </p:sp>
      <p:sp>
        <p:nvSpPr>
          <p:cNvPr id="20" name="Shape 14"/>
          <p:cNvSpPr/>
          <p:nvPr/>
        </p:nvSpPr>
        <p:spPr>
          <a:xfrm>
            <a:off x="815975" y="4140150"/>
            <a:ext cx="5175250" cy="1221929"/>
          </a:xfrm>
          <a:prstGeom prst="roundRect">
            <a:avLst>
              <a:gd name="adj" fmla="val 10134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1047750" y="4346525"/>
            <a:ext cx="4853051" cy="1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07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IT SHINES</a:t>
            </a:r>
            <a:endParaRPr lang="en-US" sz="907" dirty="0"/>
          </a:p>
        </p:txBody>
      </p:sp>
      <p:sp>
        <p:nvSpPr>
          <p:cNvPr id="22" name="Text 16"/>
          <p:cNvSpPr/>
          <p:nvPr/>
        </p:nvSpPr>
        <p:spPr>
          <a:xfrm>
            <a:off x="1047750" y="4556224"/>
            <a:ext cx="4853051" cy="22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High-traffic chat and translation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1047750" y="4811316"/>
            <a:ext cx="4853051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7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Continuous batching keeps slots full and PagedAttention fits many users' caches at once.</a:t>
            </a:r>
            <a:endParaRPr lang="en-US" sz="971" dirty="0"/>
          </a:p>
        </p:txBody>
      </p:sp>
      <p:sp>
        <p:nvSpPr>
          <p:cNvPr id="24" name="Shape 18"/>
          <p:cNvSpPr/>
          <p:nvPr/>
        </p:nvSpPr>
        <p:spPr>
          <a:xfrm>
            <a:off x="6200775" y="4140150"/>
            <a:ext cx="5175250" cy="1221929"/>
          </a:xfrm>
          <a:prstGeom prst="roundRect">
            <a:avLst>
              <a:gd name="adj" fmla="val 10134"/>
            </a:avLst>
          </a:prstGeom>
          <a:solidFill>
            <a:srgbClr val="FFFDF9"/>
          </a:solidFill>
          <a:ln w="6350">
            <a:solidFill>
              <a:srgbClr val="E6E1D6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6432550" y="4346525"/>
            <a:ext cx="4853051" cy="1842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270"/>
              </a:lnSpc>
              <a:buNone/>
            </a:pPr>
            <a:r>
              <a:rPr lang="en-US" sz="907" b="1" spc="150" kern="0" dirty="0">
                <a:solidFill>
                  <a:srgbClr val="B4581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IT SHINES</a:t>
            </a:r>
            <a:endParaRPr lang="en-US" sz="907" dirty="0"/>
          </a:p>
        </p:txBody>
      </p:sp>
      <p:sp>
        <p:nvSpPr>
          <p:cNvPr id="26" name="Text 20"/>
          <p:cNvSpPr/>
          <p:nvPr/>
        </p:nvSpPr>
        <p:spPr>
          <a:xfrm>
            <a:off x="6432550" y="4556224"/>
            <a:ext cx="4853051" cy="2296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350" b="1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Agent systems</a:t>
            </a:r>
            <a:endParaRPr lang="en-US" sz="1350" dirty="0"/>
          </a:p>
        </p:txBody>
      </p:sp>
      <p:sp>
        <p:nvSpPr>
          <p:cNvPr id="27" name="Text 21"/>
          <p:cNvSpPr/>
          <p:nvPr/>
        </p:nvSpPr>
        <p:spPr>
          <a:xfrm>
            <a:off x="6432550" y="4811316"/>
            <a:ext cx="4853051" cy="3697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359"/>
              </a:lnSpc>
              <a:buNone/>
            </a:pPr>
            <a:r>
              <a:rPr lang="en-US" sz="971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Long repeated instructions reuse shared prefix blocks. Many short steps batch together.</a:t>
            </a:r>
            <a:endParaRPr lang="en-US" sz="971" dirty="0"/>
          </a:p>
        </p:txBody>
      </p:sp>
      <p:sp>
        <p:nvSpPr>
          <p:cNvPr id="28" name="Text 22"/>
          <p:cNvSpPr/>
          <p:nvPr/>
        </p:nvSpPr>
        <p:spPr>
          <a:xfrm>
            <a:off x="812800" y="5619254"/>
            <a:ext cx="9810750" cy="2481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2"/>
              </a:lnSpc>
              <a:buNone/>
            </a:pPr>
            <a:r>
              <a:rPr lang="en-US" sz="1266" dirty="0">
                <a:solidFill>
                  <a:srgbClr val="4A5563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vLLM does not change the model's answers. It stops wasting memory and time.</a:t>
            </a:r>
            <a:endParaRPr lang="en-US" sz="1266" dirty="0"/>
          </a:p>
        </p:txBody>
      </p:sp>
      <p:sp>
        <p:nvSpPr>
          <p:cNvPr id="29" name="Shape 23"/>
          <p:cNvSpPr/>
          <p:nvPr/>
        </p:nvSpPr>
        <p:spPr>
          <a:xfrm>
            <a:off x="10363200" y="101600"/>
            <a:ext cx="1016000" cy="660400"/>
          </a:xfrm>
          <a:prstGeom prst="roundRect">
            <a:avLst>
              <a:gd name="adj" fmla="val 11538"/>
            </a:avLst>
          </a:prstGeom>
          <a:solidFill>
            <a:srgbClr val="1C2530"/>
          </a:solidFill>
          <a:ln/>
        </p:spPr>
      </p:sp>
      <p:pic>
        <p:nvPicPr>
          <p:cNvPr id="30" name="Image 4" descr="PyCon Africa 2026 logo">    </p:cNvPr>
          <p:cNvPicPr>
            <a:picLocks noChangeAspect="1"/>
          </p:cNvPicPr>
          <p:nvPr/>
        </p:nvPicPr>
        <p:blipFill>
          <a:blip r:embed="rId5"/>
          <a:srcRect l="-7639" r="-7639" t="0" b="0"/>
          <a:stretch/>
        </p:blipFill>
        <p:spPr>
          <a:xfrm>
            <a:off x="10439400" y="152400"/>
            <a:ext cx="863600" cy="55880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12800" y="6238280"/>
            <a:ext cx="449008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Deploying Custom LLMs with vLLM · PyCon Africa 2026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11196290" y="6238280"/>
            <a:ext cx="2337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93A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AA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314549"/>
            <a:ext cx="68021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PART 2 · SELF-PACED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731070"/>
            <a:ext cx="6802120" cy="1305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1C253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Deploying it serverless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12800" y="3214390"/>
            <a:ext cx="5886450" cy="9320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you saw today runs on a laptop CPU. The repository continues the story on GPU serverless infrastructure.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83920" y="4324251"/>
            <a:ext cx="6723380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Package a custom or fine-tuned model for vLLM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Serve it from a serverless GPU endpoint that scales to zero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Handle cold starts, cost and monitoring</a:t>
            </a:r>
            <a:endParaRPr lang="en-US" sz="1500" dirty="0"/>
          </a:p>
          <a:p>
            <a:pPr algn="l" marL="182880" indent="-182880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C253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All eight lab tasks, ready to run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823200" y="1437680"/>
            <a:ext cx="3556000" cy="3982641"/>
          </a:xfrm>
          <a:prstGeom prst="roundRect">
            <a:avLst>
              <a:gd name="adj" fmla="val 4286"/>
            </a:avLst>
          </a:prstGeom>
          <a:solidFill>
            <a:srgbClr val="1C2530"/>
          </a:solidFill>
          <a:ln/>
        </p:spPr>
      </p:sp>
      <p:sp>
        <p:nvSpPr>
          <p:cNvPr id="7" name="Text 5"/>
          <p:cNvSpPr/>
          <p:nvPr/>
        </p:nvSpPr>
        <p:spPr>
          <a:xfrm>
            <a:off x="8782824" y="1742480"/>
            <a:ext cx="16367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FFAA2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FOLLOW ALONG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85200" y="2108200"/>
            <a:ext cx="2032000" cy="2032000"/>
          </a:xfrm>
          <a:prstGeom prst="roundRect">
            <a:avLst>
              <a:gd name="adj" fmla="val 5000"/>
            </a:avLst>
          </a:prstGeom>
          <a:solidFill>
            <a:srgbClr val="FAF7F1"/>
          </a:solidFill>
          <a:ln/>
        </p:spPr>
      </p:sp>
      <p:pic>
        <p:nvPicPr>
          <p:cNvPr id="9" name="Image 0" descr="QR code to github.com/PatrickCmd/llm-deployment-vllm-serveles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585200" y="2108200"/>
            <a:ext cx="2032000" cy="2032000"/>
          </a:xfrm>
          <a:prstGeom prst="roundRect">
            <a:avLst>
              <a:gd name="adj" fmla="val 5000"/>
            </a:avLst>
          </a:prstGeom>
        </p:spPr>
      </p:pic>
      <p:sp>
        <p:nvSpPr>
          <p:cNvPr id="10" name="Text 7"/>
          <p:cNvSpPr/>
          <p:nvPr/>
        </p:nvSpPr>
        <p:spPr>
          <a:xfrm>
            <a:off x="8235514" y="4292600"/>
            <a:ext cx="273132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github.com/PatrickCmd/</a:t>
            </a:r>
            <a:endParaRPr lang="en-US" sz="12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llm-deployment-vllm-serveless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895813" y="4902200"/>
            <a:ext cx="34107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Star it, clone it, run verify_environment.py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C2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812800" y="1969790"/>
            <a:ext cx="680212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300"/>
              </a:lnSpc>
              <a:buNone/>
            </a:pPr>
            <a:r>
              <a:rPr lang="en-US" sz="6000" b="1" i="0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812800" y="3023890"/>
            <a:ext cx="588645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0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Questions now, or find me after the session.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12800" y="3862090"/>
            <a:ext cx="680212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AF7F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Patrick Walukagga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12800" y="4304010"/>
            <a:ext cx="68021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4CC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Software Engineer, Sunbird AI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4639270"/>
            <a:ext cx="68021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FFAA2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api.sunbird.ai · sunflower.sunbird.ai · speech.sunbird.ai</a:t>
            </a:r>
            <a:endParaRPr lang="en-US" sz="1400" dirty="0"/>
          </a:p>
        </p:txBody>
      </p:sp>
      <p:pic>
        <p:nvPicPr>
          <p:cNvPr id="7" name="Image 0" descr="PyCon Africa 2026 logo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8077200" y="1619250"/>
            <a:ext cx="3048000" cy="22733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823200" y="4146550"/>
            <a:ext cx="3556000" cy="1092200"/>
          </a:xfrm>
          <a:prstGeom prst="roundRect">
            <a:avLst>
              <a:gd name="adj" fmla="val 13953"/>
            </a:avLst>
          </a:prstGeom>
          <a:solidFill>
            <a:srgbClr val="FAF7F1"/>
          </a:solidFill>
          <a:ln/>
        </p:spPr>
      </p:sp>
      <p:pic>
        <p:nvPicPr>
          <p:cNvPr id="9" name="Image 1" descr="Sunbird AI logo">    </p:cNvPr>
          <p:cNvPicPr>
            <a:picLocks noChangeAspect="1"/>
          </p:cNvPicPr>
          <p:nvPr/>
        </p:nvPicPr>
        <p:blipFill>
          <a:blip r:embed="rId2"/>
          <a:srcRect l="-155" r="-155" t="0" b="0"/>
          <a:stretch/>
        </p:blipFill>
        <p:spPr>
          <a:xfrm>
            <a:off x="8331200" y="4400550"/>
            <a:ext cx="2540000" cy="584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ploying Custom LLMs with vLLM">
  <a:themeElements>
    <a:clrScheme name="Deploying Custom LLMs with vLLM">
      <a:dk1>
        <a:srgbClr val="1C2530"/>
      </a:dk1>
      <a:lt1>
        <a:srgbClr val="FAF7F1"/>
      </a:lt1>
      <a:dk2>
        <a:srgbClr val="323A43"/>
      </a:dk2>
      <a:lt2>
        <a:srgbClr val="C3C3C1"/>
      </a:lt2>
      <a:accent1>
        <a:srgbClr val="FFAA28"/>
      </a:accent1>
      <a:accent2>
        <a:srgbClr val="DC7828"/>
      </a:accent2>
      <a:accent3>
        <a:srgbClr val="B4581A"/>
      </a:accent3>
      <a:accent4>
        <a:srgbClr val="8A93A0"/>
      </a:accent4>
      <a:accent5>
        <a:srgbClr val="C4CCD6"/>
      </a:accent5>
      <a:accent6>
        <a:srgbClr val="4A5563"/>
      </a:accent6>
      <a:hlink>
        <a:srgbClr val="0563C1"/>
      </a:hlink>
      <a:folHlink>
        <a:srgbClr val="954F72"/>
      </a:folHlink>
    </a:clrScheme>
    <a:fontScheme name="Deploying Custom LLMs with vLLM">
      <a:majorFont>
        <a:latin typeface="Space Grotes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Deploying Custom LLMs with vLLM</dc:title>
  <dc:subject/>
  <dc:creator/>
  <cp:lastModifiedBy/>
  <cp:revision>1</cp:revision>
  <dcterms:created xsi:type="dcterms:W3CDTF">2026-10-11T04:10:39Z</dcterms:created>
  <dcterms:modified xsi:type="dcterms:W3CDTF">2026-10-11T04:10:39Z</dcterms:modified>
</cp:coreProperties>
</file>